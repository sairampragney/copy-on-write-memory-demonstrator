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and team. Explain that this is a user-space C program running on Ubuntu 24.04 through WSL2. The goal is to observe how parent and child processes behave after fork() when memory is mapped privately.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problem in simple terms. Processes need isolation, but eagerly copying every memory page at fork can be inefficient. Our program focuses on observable correctness: the child changes its value, while the parent keeps its own value.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COW. After fork(), Linux can map parent and child to the same physical pages and mark them so a write can be handled safely. When the child writes, the kernel may create a private copy of the affected page. This diagram is conceptual; our program does not directly observe physical frames.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five objectives. Highlight that mmap creates a private anonymous mapping and fork creates the child. waitpid synchronizes the parent with child completion. The final result is validated from the observed terminal output.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the flow from allocation to fork. The child reads 100, writes 200, prints it, and exits. The parent waits using waitpid, then reads and prints 100. This synchronization makes the output order clear. The memory note describes the conceptual COW behavior.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explain the toolchain and each system call. mmap creates the mapping, fork creates the child, waitpid lets the parent wait, and munmap cleans up. The code shown is intentionally a simplified excerpt, not the complete source program.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exact compile and run commands. Read the four output lines: initial 100, child before write 100, child after write 200, parent after child write 100. This is the observed result. If desired, add a genuine terminal screenshot to the marked placeholder; no screenshot has been fabricated.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table compares expected and observed values. All checks passed in the successful run. Be precise: these outputs demonstrate the program's parent/child-visible values. They do not independently measure physical page frames or quantify performance gains.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strengths and limits honestly. This is useful as a teaching prototype, but it does not read physical page-frame numbers or benchmark memory savings. The kernel manages the actual memory mapping and copy behavior.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the key observation: child value 200, parent value 100. For future work, inspect process memory information through /proc/PID/smaps, test larger or multiple-page mappings, and perform careful memory measurements. Thank the evaluators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0" cy="6858000"/>
          </a:xfrm>
          <a:prstGeom prst="rect">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234440"/>
            <a:ext cx="2011680" cy="347472"/>
          </a:xfrm>
          <a:prstGeom prst="round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4672" y="134416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 y="134416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43584" y="134416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874519"/>
            <a:ext cx="1600200" cy="347472"/>
          </a:xfrm>
          <a:prstGeom prst="roundRect">
            <a:avLst/>
          </a:prstGeom>
          <a:solidFill>
            <a:srgbClr val="4F7B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4672" y="19842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19842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43584" y="198424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2514600"/>
            <a:ext cx="2148840" cy="347472"/>
          </a:xfrm>
          <a:prstGeom prst="round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4672" y="262432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4128" y="262432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43584" y="262432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154680"/>
            <a:ext cx="1417320" cy="347472"/>
          </a:xfrm>
          <a:prstGeom prst="roundRect">
            <a:avLst/>
          </a:prstGeom>
          <a:solidFill>
            <a:srgbClr val="4F7B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26440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4128" y="326440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243584" y="3264408"/>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029200"/>
            <a:ext cx="2651760" cy="685800"/>
          </a:xfrm>
          <a:prstGeom prst="rect">
            <a:avLst/>
          </a:prstGeom>
          <a:noFill/>
        </p:spPr>
        <p:txBody>
          <a:bodyPr wrap="square" lIns="54864" rIns="54864" tIns="54864" bIns="54864" anchor="t">
            <a:spAutoFit/>
          </a:bodyPr>
          <a:lstStyle/>
          <a:p>
            <a:pPr algn="l">
              <a:spcAft>
                <a:spcPts val="0"/>
              </a:spcAft>
            </a:pPr>
            <a:r>
              <a:rPr sz="1800" b="1" i="0">
                <a:solidFill>
                  <a:srgbClr val="FFFFFF"/>
                </a:solidFill>
                <a:latin typeface="Aptos"/>
              </a:rPr>
              <a:t>OPERATING
SYSTEMS</a:t>
            </a:r>
          </a:p>
        </p:txBody>
      </p:sp>
      <p:sp>
        <p:nvSpPr>
          <p:cNvPr id="20" name="TextBox 19"/>
          <p:cNvSpPr txBox="1"/>
          <p:nvPr/>
        </p:nvSpPr>
        <p:spPr>
          <a:xfrm>
            <a:off x="4160520" y="621792"/>
            <a:ext cx="7223760" cy="292608"/>
          </a:xfrm>
          <a:prstGeom prst="rect">
            <a:avLst/>
          </a:prstGeom>
          <a:noFill/>
        </p:spPr>
        <p:txBody>
          <a:bodyPr wrap="square" lIns="54864" rIns="54864" tIns="54864" bIns="54864" anchor="t">
            <a:spAutoFit/>
          </a:bodyPr>
          <a:lstStyle/>
          <a:p>
            <a:pPr algn="l">
              <a:spcAft>
                <a:spcPts val="0"/>
              </a:spcAft>
            </a:pPr>
            <a:r>
              <a:rPr sz="1200" b="1" i="0">
                <a:solidFill>
                  <a:srgbClr val="275DA6"/>
                </a:solidFill>
                <a:latin typeface="Aptos"/>
              </a:rPr>
              <a:t>B.TECH HACKATHON PROJECT</a:t>
            </a:r>
          </a:p>
        </p:txBody>
      </p:sp>
      <p:sp>
        <p:nvSpPr>
          <p:cNvPr id="21" name="TextBox 20"/>
          <p:cNvSpPr txBox="1"/>
          <p:nvPr/>
        </p:nvSpPr>
        <p:spPr>
          <a:xfrm>
            <a:off x="4160520" y="1143000"/>
            <a:ext cx="7315200" cy="1417320"/>
          </a:xfrm>
          <a:prstGeom prst="rect">
            <a:avLst/>
          </a:prstGeom>
          <a:noFill/>
        </p:spPr>
        <p:txBody>
          <a:bodyPr wrap="square" lIns="54864" rIns="54864" tIns="54864" bIns="54864" anchor="t">
            <a:spAutoFit/>
          </a:bodyPr>
          <a:lstStyle/>
          <a:p>
            <a:pPr algn="l">
              <a:spcAft>
                <a:spcPts val="0"/>
              </a:spcAft>
            </a:pPr>
            <a:r>
              <a:rPr sz="3200" b="1" i="0">
                <a:solidFill>
                  <a:srgbClr val="142A4F"/>
                </a:solidFill>
                <a:latin typeface="Aptos"/>
              </a:rPr>
              <a:t>Copy-on-Write
Memory Demonstrator</a:t>
            </a:r>
          </a:p>
        </p:txBody>
      </p:sp>
      <p:sp>
        <p:nvSpPr>
          <p:cNvPr id="22" name="TextBox 21"/>
          <p:cNvSpPr txBox="1"/>
          <p:nvPr/>
        </p:nvSpPr>
        <p:spPr>
          <a:xfrm>
            <a:off x="4187952" y="2724912"/>
            <a:ext cx="7223760" cy="438912"/>
          </a:xfrm>
          <a:prstGeom prst="rect">
            <a:avLst/>
          </a:prstGeom>
          <a:noFill/>
        </p:spPr>
        <p:txBody>
          <a:bodyPr wrap="square" lIns="54864" rIns="54864" tIns="54864" bIns="54864" anchor="t">
            <a:spAutoFit/>
          </a:bodyPr>
          <a:lstStyle/>
          <a:p>
            <a:pPr algn="l">
              <a:spcAft>
                <a:spcPts val="0"/>
              </a:spcAft>
            </a:pPr>
            <a:r>
              <a:rPr sz="1700" b="0" i="0">
                <a:solidFill>
                  <a:srgbClr val="556273"/>
                </a:solidFill>
                <a:latin typeface="Aptos"/>
              </a:rPr>
              <a:t>A practical demonstration of process memory isolation in Linux</a:t>
            </a:r>
          </a:p>
        </p:txBody>
      </p:sp>
      <p:sp>
        <p:nvSpPr>
          <p:cNvPr id="23" name="Rectangle 22"/>
          <p:cNvSpPr/>
          <p:nvPr/>
        </p:nvSpPr>
        <p:spPr>
          <a:xfrm>
            <a:off x="4206240" y="3310128"/>
            <a:ext cx="6949440" cy="22860"/>
          </a:xfrm>
          <a:prstGeom prst="rect">
            <a:avLst/>
          </a:prstGeom>
          <a:solidFill>
            <a:srgbClr val="CCD6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87952" y="3493008"/>
            <a:ext cx="7223760" cy="320040"/>
          </a:xfrm>
          <a:prstGeom prst="rect">
            <a:avLst/>
          </a:prstGeom>
          <a:noFill/>
        </p:spPr>
        <p:txBody>
          <a:bodyPr wrap="square" lIns="54864" rIns="54864" tIns="54864" bIns="54864" anchor="t">
            <a:spAutoFit/>
          </a:bodyPr>
          <a:lstStyle/>
          <a:p>
            <a:pPr algn="l">
              <a:spcAft>
                <a:spcPts val="0"/>
              </a:spcAft>
            </a:pPr>
            <a:r>
              <a:rPr sz="1100" b="1" i="0">
                <a:solidFill>
                  <a:srgbClr val="275DA6"/>
                </a:solidFill>
                <a:latin typeface="Aptos"/>
              </a:rPr>
              <a:t>TEAM MEMBERS</a:t>
            </a:r>
          </a:p>
        </p:txBody>
      </p:sp>
      <p:sp>
        <p:nvSpPr>
          <p:cNvPr id="25" name="TextBox 24"/>
          <p:cNvSpPr txBox="1"/>
          <p:nvPr/>
        </p:nvSpPr>
        <p:spPr>
          <a:xfrm>
            <a:off x="4187952" y="3822191"/>
            <a:ext cx="7132320" cy="274320"/>
          </a:xfrm>
          <a:prstGeom prst="rect">
            <a:avLst/>
          </a:prstGeom>
          <a:noFill/>
        </p:spPr>
        <p:txBody>
          <a:bodyPr wrap="square" lIns="54864" rIns="54864" tIns="54864" bIns="54864" anchor="t">
            <a:spAutoFit/>
          </a:bodyPr>
          <a:lstStyle/>
          <a:p>
            <a:pPr algn="l">
              <a:spcAft>
                <a:spcPts val="0"/>
              </a:spcAft>
            </a:pPr>
            <a:r>
              <a:rPr sz="1300" b="1" i="0">
                <a:solidFill>
                  <a:srgbClr val="1C232D"/>
                </a:solidFill>
                <a:latin typeface="Aptos"/>
              </a:rPr>
              <a:t>2520090081  •  SAI RAM PRAGNEY MURIKIPUDI</a:t>
            </a:r>
          </a:p>
        </p:txBody>
      </p:sp>
      <p:sp>
        <p:nvSpPr>
          <p:cNvPr id="26" name="TextBox 25"/>
          <p:cNvSpPr txBox="1"/>
          <p:nvPr/>
        </p:nvSpPr>
        <p:spPr>
          <a:xfrm>
            <a:off x="4187952" y="4160520"/>
            <a:ext cx="7132320" cy="274320"/>
          </a:xfrm>
          <a:prstGeom prst="rect">
            <a:avLst/>
          </a:prstGeom>
          <a:noFill/>
        </p:spPr>
        <p:txBody>
          <a:bodyPr wrap="square" lIns="54864" rIns="54864" tIns="54864" bIns="54864" anchor="t">
            <a:spAutoFit/>
          </a:bodyPr>
          <a:lstStyle/>
          <a:p>
            <a:pPr algn="l">
              <a:spcAft>
                <a:spcPts val="0"/>
              </a:spcAft>
            </a:pPr>
            <a:r>
              <a:rPr sz="1300" b="0" i="0">
                <a:solidFill>
                  <a:srgbClr val="1C232D"/>
                </a:solidFill>
                <a:latin typeface="Aptos"/>
              </a:rPr>
              <a:t>2520090131  •  RISHI PRADYUMAN VADLAMUDI</a:t>
            </a:r>
          </a:p>
        </p:txBody>
      </p:sp>
      <p:sp>
        <p:nvSpPr>
          <p:cNvPr id="27" name="TextBox 26"/>
          <p:cNvSpPr txBox="1"/>
          <p:nvPr/>
        </p:nvSpPr>
        <p:spPr>
          <a:xfrm>
            <a:off x="4187952" y="4498848"/>
            <a:ext cx="7132320" cy="274320"/>
          </a:xfrm>
          <a:prstGeom prst="rect">
            <a:avLst/>
          </a:prstGeom>
          <a:noFill/>
        </p:spPr>
        <p:txBody>
          <a:bodyPr wrap="square" lIns="54864" rIns="54864" tIns="54864" bIns="54864" anchor="t">
            <a:spAutoFit/>
          </a:bodyPr>
          <a:lstStyle/>
          <a:p>
            <a:pPr algn="l">
              <a:spcAft>
                <a:spcPts val="0"/>
              </a:spcAft>
            </a:pPr>
            <a:r>
              <a:rPr sz="1300" b="0" i="0">
                <a:solidFill>
                  <a:srgbClr val="1C232D"/>
                </a:solidFill>
                <a:latin typeface="Aptos"/>
              </a:rPr>
              <a:t>2520090194  •  NAMAN MASINENI</a:t>
            </a:r>
          </a:p>
        </p:txBody>
      </p:sp>
      <p:sp>
        <p:nvSpPr>
          <p:cNvPr id="28" name="TextBox 27"/>
          <p:cNvSpPr txBox="1"/>
          <p:nvPr/>
        </p:nvSpPr>
        <p:spPr>
          <a:xfrm>
            <a:off x="4187952" y="5010912"/>
            <a:ext cx="7132320" cy="274320"/>
          </a:xfrm>
          <a:prstGeom prst="rect">
            <a:avLst/>
          </a:prstGeom>
          <a:noFill/>
        </p:spPr>
        <p:txBody>
          <a:bodyPr wrap="square" lIns="54864" rIns="54864" tIns="54864" bIns="54864" anchor="t">
            <a:spAutoFit/>
          </a:bodyPr>
          <a:lstStyle/>
          <a:p>
            <a:pPr algn="l">
              <a:spcAft>
                <a:spcPts val="0"/>
              </a:spcAft>
            </a:pPr>
            <a:r>
              <a:rPr sz="1300" b="1" i="0">
                <a:solidFill>
                  <a:srgbClr val="1C232D"/>
                </a:solidFill>
                <a:latin typeface="Aptos"/>
              </a:rPr>
              <a:t>Faculty Guide: Dr. Alekhya Dasari</a:t>
            </a:r>
          </a:p>
        </p:txBody>
      </p:sp>
      <p:sp>
        <p:nvSpPr>
          <p:cNvPr id="29" name="TextBox 28"/>
          <p:cNvSpPr txBox="1"/>
          <p:nvPr/>
        </p:nvSpPr>
        <p:spPr>
          <a:xfrm>
            <a:off x="4187952" y="5440680"/>
            <a:ext cx="7132320" cy="274320"/>
          </a:xfrm>
          <a:prstGeom prst="rect">
            <a:avLst/>
          </a:prstGeom>
          <a:noFill/>
        </p:spPr>
        <p:txBody>
          <a:bodyPr wrap="square" lIns="54864" rIns="54864" tIns="54864" bIns="54864" anchor="t">
            <a:spAutoFit/>
          </a:bodyPr>
          <a:lstStyle/>
          <a:p>
            <a:pPr algn="l">
              <a:spcAft>
                <a:spcPts val="0"/>
              </a:spcAft>
            </a:pPr>
            <a:r>
              <a:rPr sz="1100" b="0" i="0">
                <a:solidFill>
                  <a:srgbClr val="556273"/>
                </a:solidFill>
                <a:latin typeface="Aptos"/>
              </a:rPr>
              <a:t>KLH University  •  Computer Science and Information Technology (CSIT)</a:t>
            </a:r>
          </a:p>
        </p:txBody>
      </p:sp>
      <p:sp>
        <p:nvSpPr>
          <p:cNvPr id="30" name="TextBox 29"/>
          <p:cNvSpPr txBox="1"/>
          <p:nvPr/>
        </p:nvSpPr>
        <p:spPr>
          <a:xfrm>
            <a:off x="4187952" y="6263640"/>
            <a:ext cx="7132320" cy="228600"/>
          </a:xfrm>
          <a:prstGeom prst="rect">
            <a:avLst/>
          </a:prstGeom>
          <a:noFill/>
        </p:spPr>
        <p:txBody>
          <a:bodyPr wrap="square" lIns="54864" rIns="54864" tIns="54864" bIns="54864" anchor="t">
            <a:spAutoFit/>
          </a:bodyPr>
          <a:lstStyle/>
          <a:p>
            <a:pPr algn="l">
              <a:spcAft>
                <a:spcPts val="0"/>
              </a:spcAft>
            </a:pPr>
            <a:r>
              <a:rPr sz="1000" b="1" i="0">
                <a:solidFill>
                  <a:srgbClr val="556273"/>
                </a:solidFill>
                <a:latin typeface="Aptos"/>
              </a:rPr>
              <a:t>C  |  GCC  |  Ubuntu 24.04 LTS on WSL2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475488"/>
          </a:xfrm>
          <a:prstGeom prst="rect">
            <a:avLst/>
          </a:prstGeom>
          <a:noFill/>
        </p:spPr>
        <p:txBody>
          <a:bodyPr wrap="square" lIns="54864" rIns="54864" tIns="54864" bIns="54864" anchor="t">
            <a:spAutoFit/>
          </a:bodyPr>
          <a:lstStyle/>
          <a:p>
            <a:pPr algn="l">
              <a:spcAft>
                <a:spcPts val="0"/>
              </a:spcAft>
            </a:pPr>
            <a:r>
              <a:rPr sz="2800" b="1" i="0">
                <a:solidFill>
                  <a:srgbClr val="142A4F"/>
                </a:solidFill>
                <a:latin typeface="Aptos"/>
              </a:rPr>
              <a:t>Problem Statement</a:t>
            </a:r>
          </a:p>
        </p:txBody>
      </p:sp>
      <p:sp>
        <p:nvSpPr>
          <p:cNvPr id="3" name="Rectangle 2"/>
          <p:cNvSpPr/>
          <p:nvPr/>
        </p:nvSpPr>
        <p:spPr>
          <a:xfrm>
            <a:off x="594360" y="832104"/>
            <a:ext cx="914400" cy="50292"/>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27632" y="731520"/>
            <a:ext cx="9966960" cy="274320"/>
          </a:xfrm>
          <a:prstGeom prst="rect">
            <a:avLst/>
          </a:prstGeom>
          <a:noFill/>
        </p:spPr>
        <p:txBody>
          <a:bodyPr wrap="square" lIns="54864" rIns="54864" tIns="54864" bIns="54864" anchor="t">
            <a:spAutoFit/>
          </a:bodyPr>
          <a:lstStyle/>
          <a:p>
            <a:pPr algn="l">
              <a:spcAft>
                <a:spcPts val="0"/>
              </a:spcAft>
            </a:pPr>
            <a:r>
              <a:rPr sz="1100" b="0" i="0">
                <a:solidFill>
                  <a:srgbClr val="556273"/>
                </a:solidFill>
                <a:latin typeface="Aptos"/>
              </a:rPr>
              <a:t>Why process memory isolation matters</a:t>
            </a:r>
          </a:p>
        </p:txBody>
      </p:sp>
      <p:sp>
        <p:nvSpPr>
          <p:cNvPr id="5" name="TextBox 4"/>
          <p:cNvSpPr txBox="1"/>
          <p:nvPr/>
        </p:nvSpPr>
        <p:spPr>
          <a:xfrm>
            <a:off x="594360" y="6510528"/>
            <a:ext cx="9875520" cy="164592"/>
          </a:xfrm>
          <a:prstGeom prst="rect">
            <a:avLst/>
          </a:prstGeom>
          <a:noFill/>
        </p:spPr>
        <p:txBody>
          <a:bodyPr wrap="square" lIns="54864" rIns="54864" tIns="54864" bIns="54864" anchor="t">
            <a:spAutoFit/>
          </a:bodyPr>
          <a:lstStyle/>
          <a:p>
            <a:pPr algn="l">
              <a:spcAft>
                <a:spcPts val="0"/>
              </a:spcAft>
            </a:pPr>
            <a:r>
              <a:rPr sz="800" b="1" i="0">
                <a:solidFill>
                  <a:srgbClr val="556273"/>
                </a:solidFill>
                <a:latin typeface="Aptos"/>
              </a:rPr>
              <a:t>COPY-ON-WRITE MEMORY DEMONSTRATOR  •  OPERATING SYSTEMS</a:t>
            </a:r>
          </a:p>
        </p:txBody>
      </p:sp>
      <p:sp>
        <p:nvSpPr>
          <p:cNvPr id="6" name="TextBox 5"/>
          <p:cNvSpPr txBox="1"/>
          <p:nvPr/>
        </p:nvSpPr>
        <p:spPr>
          <a:xfrm>
            <a:off x="11064240" y="6473952"/>
            <a:ext cx="502920" cy="201168"/>
          </a:xfrm>
          <a:prstGeom prst="rect">
            <a:avLst/>
          </a:prstGeom>
          <a:noFill/>
        </p:spPr>
        <p:txBody>
          <a:bodyPr wrap="square" lIns="54864" rIns="54864" tIns="54864" bIns="54864" anchor="t">
            <a:spAutoFit/>
          </a:bodyPr>
          <a:lstStyle/>
          <a:p>
            <a:pPr algn="r">
              <a:spcAft>
                <a:spcPts val="0"/>
              </a:spcAft>
            </a:pPr>
            <a:r>
              <a:rPr sz="900" b="1" i="0">
                <a:solidFill>
                  <a:srgbClr val="556273"/>
                </a:solidFill>
                <a:latin typeface="Aptos"/>
              </a:rPr>
              <a:t>02 / 10</a:t>
            </a:r>
          </a:p>
        </p:txBody>
      </p:sp>
      <p:sp>
        <p:nvSpPr>
          <p:cNvPr id="7" name="Rounded Rectangle 6"/>
          <p:cNvSpPr/>
          <p:nvPr/>
        </p:nvSpPr>
        <p:spPr>
          <a:xfrm>
            <a:off x="685800" y="1234440"/>
            <a:ext cx="3429000" cy="1828800"/>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280160"/>
            <a:ext cx="64008" cy="1737360"/>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371600"/>
            <a:ext cx="308152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Process isolation</a:t>
            </a:r>
          </a:p>
        </p:txBody>
      </p:sp>
      <p:sp>
        <p:nvSpPr>
          <p:cNvPr id="10" name="TextBox 9"/>
          <p:cNvSpPr txBox="1"/>
          <p:nvPr/>
        </p:nvSpPr>
        <p:spPr>
          <a:xfrm>
            <a:off x="886968" y="1764792"/>
            <a:ext cx="3081528" cy="1188720"/>
          </a:xfrm>
          <a:prstGeom prst="rect">
            <a:avLst/>
          </a:prstGeom>
          <a:noFill/>
        </p:spPr>
        <p:txBody>
          <a:bodyPr wrap="square" lIns="54864" rIns="54864" tIns="54864" bIns="54864" anchor="t">
            <a:spAutoFit/>
          </a:bodyPr>
          <a:lstStyle/>
          <a:p>
            <a:pPr algn="l">
              <a:spcAft>
                <a:spcPts val="0"/>
              </a:spcAft>
            </a:pPr>
            <a:r>
              <a:rPr sz="1500" b="0" i="0">
                <a:solidFill>
                  <a:srgbClr val="1C232D"/>
                </a:solidFill>
                <a:latin typeface="Aptos"/>
              </a:rPr>
              <a:t>A child process must be able to change its own data without unexpectedly changing the parent's data.</a:t>
            </a:r>
          </a:p>
        </p:txBody>
      </p:sp>
      <p:sp>
        <p:nvSpPr>
          <p:cNvPr id="11" name="Rounded Rectangle 10"/>
          <p:cNvSpPr/>
          <p:nvPr/>
        </p:nvSpPr>
        <p:spPr>
          <a:xfrm>
            <a:off x="4389120" y="1234440"/>
            <a:ext cx="3429000" cy="1828800"/>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280160"/>
            <a:ext cx="64008" cy="1737360"/>
          </a:xfrm>
          <a:prstGeom prst="rect">
            <a:avLst/>
          </a:prstGeom>
          <a:solidFill>
            <a:srgbClr val="C27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371600"/>
            <a:ext cx="308152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Memory efficiency</a:t>
            </a:r>
          </a:p>
        </p:txBody>
      </p:sp>
      <p:sp>
        <p:nvSpPr>
          <p:cNvPr id="14" name="TextBox 13"/>
          <p:cNvSpPr txBox="1"/>
          <p:nvPr/>
        </p:nvSpPr>
        <p:spPr>
          <a:xfrm>
            <a:off x="4590288" y="1764792"/>
            <a:ext cx="3081528" cy="1188720"/>
          </a:xfrm>
          <a:prstGeom prst="rect">
            <a:avLst/>
          </a:prstGeom>
          <a:noFill/>
        </p:spPr>
        <p:txBody>
          <a:bodyPr wrap="square" lIns="54864" rIns="54864" tIns="54864" bIns="54864" anchor="t">
            <a:spAutoFit/>
          </a:bodyPr>
          <a:lstStyle/>
          <a:p>
            <a:pPr algn="l">
              <a:spcAft>
                <a:spcPts val="0"/>
              </a:spcAft>
            </a:pPr>
            <a:r>
              <a:rPr sz="1500" b="0" i="0">
                <a:solidFill>
                  <a:srgbClr val="1C232D"/>
                </a:solidFill>
                <a:latin typeface="Aptos"/>
              </a:rPr>
              <a:t>Copying all process memory immediately can be wasteful when many pages are never modified.</a:t>
            </a:r>
          </a:p>
        </p:txBody>
      </p:sp>
      <p:sp>
        <p:nvSpPr>
          <p:cNvPr id="15" name="Rounded Rectangle 14"/>
          <p:cNvSpPr/>
          <p:nvPr/>
        </p:nvSpPr>
        <p:spPr>
          <a:xfrm>
            <a:off x="8092440" y="1234440"/>
            <a:ext cx="3429000" cy="1828800"/>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2440" y="1280160"/>
            <a:ext cx="64008" cy="1737360"/>
          </a:xfrm>
          <a:prstGeom prst="rect">
            <a:avLst/>
          </a:prstGeom>
          <a:solidFill>
            <a:srgbClr val="277D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1371600"/>
            <a:ext cx="308152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Our approach</a:t>
            </a:r>
          </a:p>
        </p:txBody>
      </p:sp>
      <p:sp>
        <p:nvSpPr>
          <p:cNvPr id="18" name="TextBox 17"/>
          <p:cNvSpPr txBox="1"/>
          <p:nvPr/>
        </p:nvSpPr>
        <p:spPr>
          <a:xfrm>
            <a:off x="8293608" y="1764792"/>
            <a:ext cx="3081528" cy="1188720"/>
          </a:xfrm>
          <a:prstGeom prst="rect">
            <a:avLst/>
          </a:prstGeom>
          <a:noFill/>
        </p:spPr>
        <p:txBody>
          <a:bodyPr wrap="square" lIns="54864" rIns="54864" tIns="54864" bIns="54864" anchor="t">
            <a:spAutoFit/>
          </a:bodyPr>
          <a:lstStyle/>
          <a:p>
            <a:pPr algn="l">
              <a:spcAft>
                <a:spcPts val="0"/>
              </a:spcAft>
            </a:pPr>
            <a:r>
              <a:rPr sz="1500" b="0" i="0">
                <a:solidFill>
                  <a:srgbClr val="1C232D"/>
                </a:solidFill>
                <a:latin typeface="Aptos"/>
              </a:rPr>
              <a:t>Use a small Linux program to demonstrate private memory behavior after fork().</a:t>
            </a:r>
          </a:p>
        </p:txBody>
      </p:sp>
      <p:sp>
        <p:nvSpPr>
          <p:cNvPr id="19" name="TextBox 18"/>
          <p:cNvSpPr txBox="1"/>
          <p:nvPr/>
        </p:nvSpPr>
        <p:spPr>
          <a:xfrm>
            <a:off x="822960" y="3520440"/>
            <a:ext cx="10698480" cy="384048"/>
          </a:xfrm>
          <a:prstGeom prst="rect">
            <a:avLst/>
          </a:prstGeom>
          <a:noFill/>
        </p:spPr>
        <p:txBody>
          <a:bodyPr wrap="square" lIns="54864" rIns="54864" tIns="54864" bIns="54864" anchor="t">
            <a:spAutoFit/>
          </a:bodyPr>
          <a:lstStyle/>
          <a:p>
            <a:pPr algn="l">
              <a:spcAft>
                <a:spcPts val="0"/>
              </a:spcAft>
            </a:pPr>
            <a:r>
              <a:rPr sz="1800" b="1" i="0">
                <a:solidFill>
                  <a:srgbClr val="142A4F"/>
                </a:solidFill>
                <a:latin typeface="Aptos"/>
              </a:rPr>
              <a:t>Project question</a:t>
            </a:r>
          </a:p>
        </p:txBody>
      </p:sp>
      <p:sp>
        <p:nvSpPr>
          <p:cNvPr id="20" name="Rounded Rectangle 19"/>
          <p:cNvSpPr/>
          <p:nvPr/>
        </p:nvSpPr>
        <p:spPr>
          <a:xfrm>
            <a:off x="777240" y="3950208"/>
            <a:ext cx="10652760" cy="1051560"/>
          </a:xfrm>
          <a:prstGeom prst="roundRect">
            <a:avLst/>
          </a:prstGeom>
          <a:solidFill>
            <a:srgbClr val="EBF2FA"/>
          </a:solidFill>
          <a:ln w="12700">
            <a:solidFill>
              <a:srgbClr val="EBF2FA"/>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lstStyle/>
          <a:p>
            <a:pPr algn="ctr">
              <a:spcAft>
                <a:spcPts val="500"/>
              </a:spcAft>
              <a:defRPr sz="2200" b="1">
                <a:solidFill>
                  <a:srgbClr val="142A4F"/>
                </a:solidFill>
                <a:latin typeface="Aptos"/>
              </a:defRPr>
            </a:pPr>
            <a:r>
              <a:t>Can the child write 200 while the parent still reads 100?</a:t>
            </a:r>
          </a:p>
          <a:p>
            <a:pPr>
              <a:spcAft>
                <a:spcPts val="500"/>
              </a:spcAft>
              <a:defRPr sz="1500" b="0">
                <a:solidFill>
                  <a:srgbClr val="556273"/>
                </a:solidFill>
                <a:latin typeface="Aptos"/>
              </a:defRPr>
            </a:pPr>
            <a:r>
              <a:t>We observe the program output and explain it using Linux Copy-on-Write (COW).</a:t>
            </a:r>
          </a:p>
        </p:txBody>
      </p:sp>
      <p:sp>
        <p:nvSpPr>
          <p:cNvPr id="21" name="TextBox 20"/>
          <p:cNvSpPr txBox="1"/>
          <p:nvPr/>
        </p:nvSpPr>
        <p:spPr>
          <a:xfrm>
            <a:off x="822960" y="5349240"/>
            <a:ext cx="10424160" cy="548640"/>
          </a:xfrm>
          <a:prstGeom prst="rect">
            <a:avLst/>
          </a:prstGeom>
          <a:noFill/>
        </p:spPr>
        <p:txBody>
          <a:bodyPr wrap="square" lIns="54864" rIns="54864" tIns="54864" bIns="54864" anchor="t">
            <a:spAutoFit/>
          </a:bodyPr>
          <a:lstStyle/>
          <a:p>
            <a:pPr algn="l">
              <a:spcAft>
                <a:spcPts val="0"/>
              </a:spcAft>
            </a:pPr>
            <a:r>
              <a:rPr sz="1400" b="1" i="0">
                <a:solidFill>
                  <a:srgbClr val="A63E3E"/>
                </a:solidFill>
                <a:latin typeface="Aptos"/>
              </a:rPr>
              <a:t>Scope: demonstrate behavior—not benchmark speed or inspect physical page frames.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475488"/>
          </a:xfrm>
          <a:prstGeom prst="rect">
            <a:avLst/>
          </a:prstGeom>
          <a:noFill/>
        </p:spPr>
        <p:txBody>
          <a:bodyPr wrap="square" lIns="54864" rIns="54864" tIns="54864" bIns="54864" anchor="t">
            <a:spAutoFit/>
          </a:bodyPr>
          <a:lstStyle/>
          <a:p>
            <a:pPr algn="l">
              <a:spcAft>
                <a:spcPts val="0"/>
              </a:spcAft>
            </a:pPr>
            <a:r>
              <a:rPr sz="2800" b="1" i="0">
                <a:solidFill>
                  <a:srgbClr val="142A4F"/>
                </a:solidFill>
                <a:latin typeface="Aptos"/>
              </a:rPr>
              <a:t>Introduction to Copy-on-Write</a:t>
            </a:r>
          </a:p>
        </p:txBody>
      </p:sp>
      <p:sp>
        <p:nvSpPr>
          <p:cNvPr id="3" name="Rectangle 2"/>
          <p:cNvSpPr/>
          <p:nvPr/>
        </p:nvSpPr>
        <p:spPr>
          <a:xfrm>
            <a:off x="594360" y="832104"/>
            <a:ext cx="914400" cy="50292"/>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27632" y="731520"/>
            <a:ext cx="9966960" cy="274320"/>
          </a:xfrm>
          <a:prstGeom prst="rect">
            <a:avLst/>
          </a:prstGeom>
          <a:noFill/>
        </p:spPr>
        <p:txBody>
          <a:bodyPr wrap="square" lIns="54864" rIns="54864" tIns="54864" bIns="54864" anchor="t">
            <a:spAutoFit/>
          </a:bodyPr>
          <a:lstStyle/>
          <a:p>
            <a:pPr algn="l">
              <a:spcAft>
                <a:spcPts val="0"/>
              </a:spcAft>
            </a:pPr>
            <a:r>
              <a:rPr sz="1100" b="0" i="0">
                <a:solidFill>
                  <a:srgbClr val="556273"/>
                </a:solidFill>
                <a:latin typeface="Aptos"/>
              </a:rPr>
              <a:t>Share initially; copy privately when a write requires it</a:t>
            </a:r>
          </a:p>
        </p:txBody>
      </p:sp>
      <p:sp>
        <p:nvSpPr>
          <p:cNvPr id="5" name="TextBox 4"/>
          <p:cNvSpPr txBox="1"/>
          <p:nvPr/>
        </p:nvSpPr>
        <p:spPr>
          <a:xfrm>
            <a:off x="594360" y="6510528"/>
            <a:ext cx="9875520" cy="164592"/>
          </a:xfrm>
          <a:prstGeom prst="rect">
            <a:avLst/>
          </a:prstGeom>
          <a:noFill/>
        </p:spPr>
        <p:txBody>
          <a:bodyPr wrap="square" lIns="54864" rIns="54864" tIns="54864" bIns="54864" anchor="t">
            <a:spAutoFit/>
          </a:bodyPr>
          <a:lstStyle/>
          <a:p>
            <a:pPr algn="l">
              <a:spcAft>
                <a:spcPts val="0"/>
              </a:spcAft>
            </a:pPr>
            <a:r>
              <a:rPr sz="800" b="1" i="0">
                <a:solidFill>
                  <a:srgbClr val="556273"/>
                </a:solidFill>
                <a:latin typeface="Aptos"/>
              </a:rPr>
              <a:t>COPY-ON-WRITE MEMORY DEMONSTRATOR  •  OPERATING SYSTEMS</a:t>
            </a:r>
          </a:p>
        </p:txBody>
      </p:sp>
      <p:sp>
        <p:nvSpPr>
          <p:cNvPr id="6" name="TextBox 5"/>
          <p:cNvSpPr txBox="1"/>
          <p:nvPr/>
        </p:nvSpPr>
        <p:spPr>
          <a:xfrm>
            <a:off x="11064240" y="6473952"/>
            <a:ext cx="502920" cy="201168"/>
          </a:xfrm>
          <a:prstGeom prst="rect">
            <a:avLst/>
          </a:prstGeom>
          <a:noFill/>
        </p:spPr>
        <p:txBody>
          <a:bodyPr wrap="square" lIns="54864" rIns="54864" tIns="54864" bIns="54864" anchor="t">
            <a:spAutoFit/>
          </a:bodyPr>
          <a:lstStyle/>
          <a:p>
            <a:pPr algn="r">
              <a:spcAft>
                <a:spcPts val="0"/>
              </a:spcAft>
            </a:pPr>
            <a:r>
              <a:rPr sz="900" b="1" i="0">
                <a:solidFill>
                  <a:srgbClr val="556273"/>
                </a:solidFill>
                <a:latin typeface="Aptos"/>
              </a:rPr>
              <a:t>03 / 10</a:t>
            </a:r>
          </a:p>
        </p:txBody>
      </p:sp>
      <p:sp>
        <p:nvSpPr>
          <p:cNvPr id="7" name="Rounded Rectangle 6"/>
          <p:cNvSpPr/>
          <p:nvPr/>
        </p:nvSpPr>
        <p:spPr>
          <a:xfrm>
            <a:off x="658368" y="1143000"/>
            <a:ext cx="3794760" cy="1261872"/>
          </a:xfrm>
          <a:prstGeom prst="roundRect">
            <a:avLst/>
          </a:prstGeom>
          <a:solidFill>
            <a:srgbClr val="F6F8FB"/>
          </a:solidFill>
          <a:ln w="12700">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lstStyle/>
          <a:p>
            <a:pPr algn="ctr">
              <a:spcAft>
                <a:spcPts val="500"/>
              </a:spcAft>
              <a:defRPr sz="1800" b="1">
                <a:solidFill>
                  <a:srgbClr val="142A4F"/>
                </a:solidFill>
                <a:latin typeface="Aptos"/>
              </a:defRPr>
            </a:pPr>
            <a:r>
              <a:t>Copy-on-Write (COW)</a:t>
            </a:r>
          </a:p>
          <a:p>
            <a:pPr>
              <a:spcAft>
                <a:spcPts val="500"/>
              </a:spcAft>
              <a:defRPr sz="1400" b="0">
                <a:solidFill>
                  <a:srgbClr val="1C232D"/>
                </a:solidFill>
                <a:latin typeface="Aptos"/>
              </a:defRPr>
            </a:pPr>
            <a:r>
              <a:t>A memory optimization: processes can initially refer to the same physical page. A write to a protected shared page can trigger a private copy.</a:t>
            </a:r>
          </a:p>
        </p:txBody>
      </p:sp>
      <p:sp>
        <p:nvSpPr>
          <p:cNvPr id="8" name="TextBox 7"/>
          <p:cNvSpPr txBox="1"/>
          <p:nvPr/>
        </p:nvSpPr>
        <p:spPr>
          <a:xfrm>
            <a:off x="4754880" y="1188720"/>
            <a:ext cx="2926080" cy="292608"/>
          </a:xfrm>
          <a:prstGeom prst="rect">
            <a:avLst/>
          </a:prstGeom>
          <a:noFill/>
        </p:spPr>
        <p:txBody>
          <a:bodyPr wrap="square" lIns="54864" rIns="54864" tIns="54864" bIns="54864" anchor="t">
            <a:spAutoFit/>
          </a:bodyPr>
          <a:lstStyle/>
          <a:p>
            <a:pPr algn="ctr">
              <a:spcAft>
                <a:spcPts val="0"/>
              </a:spcAft>
            </a:pPr>
            <a:r>
              <a:rPr sz="1400" b="1" i="0">
                <a:solidFill>
                  <a:srgbClr val="142A4F"/>
                </a:solidFill>
                <a:latin typeface="Aptos"/>
              </a:rPr>
              <a:t>1. AFTER fork()</a:t>
            </a:r>
          </a:p>
        </p:txBody>
      </p:sp>
      <p:sp>
        <p:nvSpPr>
          <p:cNvPr id="9" name="Rounded Rectangle 8"/>
          <p:cNvSpPr/>
          <p:nvPr/>
        </p:nvSpPr>
        <p:spPr>
          <a:xfrm>
            <a:off x="4800600" y="1627632"/>
            <a:ext cx="1828800" cy="566928"/>
          </a:xfrm>
          <a:prstGeom prst="roundRect">
            <a:avLst/>
          </a:prstGeom>
          <a:solidFill>
            <a:srgbClr val="EBF2FA"/>
          </a:solidFill>
          <a:ln w="17780">
            <a:solidFill>
              <a:srgbClr val="275D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42A4F"/>
                </a:solidFill>
                <a:latin typeface="Aptos"/>
              </a:rPr>
              <a:t>Parent process</a:t>
            </a:r>
          </a:p>
        </p:txBody>
      </p:sp>
      <p:sp>
        <p:nvSpPr>
          <p:cNvPr id="10" name="Rounded Rectangle 9"/>
          <p:cNvSpPr/>
          <p:nvPr/>
        </p:nvSpPr>
        <p:spPr>
          <a:xfrm>
            <a:off x="7589520" y="1627632"/>
            <a:ext cx="1828800" cy="566928"/>
          </a:xfrm>
          <a:prstGeom prst="roundRect">
            <a:avLst/>
          </a:prstGeom>
          <a:solidFill>
            <a:srgbClr val="EBF2FA"/>
          </a:solidFill>
          <a:ln w="17780">
            <a:solidFill>
              <a:srgbClr val="275D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42A4F"/>
                </a:solidFill>
                <a:latin typeface="Aptos"/>
              </a:rPr>
              <a:t>Child process</a:t>
            </a:r>
          </a:p>
        </p:txBody>
      </p:sp>
      <p:sp>
        <p:nvSpPr>
          <p:cNvPr id="11" name="Rounded Rectangle 10"/>
          <p:cNvSpPr/>
          <p:nvPr/>
        </p:nvSpPr>
        <p:spPr>
          <a:xfrm>
            <a:off x="5897880" y="2606040"/>
            <a:ext cx="2423160" cy="658368"/>
          </a:xfrm>
          <a:prstGeom prst="roundRect">
            <a:avLst/>
          </a:prstGeom>
          <a:solidFill>
            <a:srgbClr val="E7F1E8"/>
          </a:solidFill>
          <a:ln w="17780">
            <a:solidFill>
              <a:srgbClr val="277D5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142A4F"/>
                </a:solidFill>
                <a:latin typeface="Aptos"/>
              </a:rPr>
              <a:t>Shared physical page
(value = 100)</a:t>
            </a:r>
          </a:p>
        </p:txBody>
      </p:sp>
      <p:cxnSp>
        <p:nvCxnSpPr>
          <p:cNvPr id="12" name="Connector 11"/>
          <p:cNvCxnSpPr/>
          <p:nvPr/>
        </p:nvCxnSpPr>
        <p:spPr>
          <a:xfrm>
            <a:off x="5715000" y="2194560"/>
            <a:ext cx="731520" cy="393192"/>
          </a:xfrm>
          <a:prstGeom prst="line">
            <a:avLst/>
          </a:prstGeom>
          <a:ln w="22860">
            <a:solidFill>
              <a:srgbClr val="277D5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772400" y="2194560"/>
            <a:ext cx="685800" cy="393192"/>
          </a:xfrm>
          <a:prstGeom prst="line">
            <a:avLst/>
          </a:prstGeom>
          <a:ln w="22860">
            <a:solidFill>
              <a:srgbClr val="277D5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754880" y="3657600"/>
            <a:ext cx="2926080" cy="292608"/>
          </a:xfrm>
          <a:prstGeom prst="rect">
            <a:avLst/>
          </a:prstGeom>
          <a:noFill/>
        </p:spPr>
        <p:txBody>
          <a:bodyPr wrap="square" lIns="54864" rIns="54864" tIns="54864" bIns="54864" anchor="t">
            <a:spAutoFit/>
          </a:bodyPr>
          <a:lstStyle/>
          <a:p>
            <a:pPr algn="ctr">
              <a:spcAft>
                <a:spcPts val="0"/>
              </a:spcAft>
            </a:pPr>
            <a:r>
              <a:rPr sz="1400" b="1" i="0">
                <a:solidFill>
                  <a:srgbClr val="142A4F"/>
                </a:solidFill>
                <a:latin typeface="Aptos"/>
              </a:rPr>
              <a:t>2. CHILD WRITES</a:t>
            </a:r>
          </a:p>
        </p:txBody>
      </p:sp>
      <p:sp>
        <p:nvSpPr>
          <p:cNvPr id="15" name="Rounded Rectangle 14"/>
          <p:cNvSpPr/>
          <p:nvPr/>
        </p:nvSpPr>
        <p:spPr>
          <a:xfrm>
            <a:off x="4709160" y="4069080"/>
            <a:ext cx="1828800" cy="621792"/>
          </a:xfrm>
          <a:prstGeom prst="roundRect">
            <a:avLst/>
          </a:prstGeom>
          <a:solidFill>
            <a:srgbClr val="EBF2FA"/>
          </a:solidFill>
          <a:ln w="17780">
            <a:solidFill>
              <a:srgbClr val="275D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42A4F"/>
                </a:solidFill>
                <a:latin typeface="Aptos"/>
              </a:rPr>
              <a:t>Parent page
value = 100</a:t>
            </a:r>
          </a:p>
        </p:txBody>
      </p:sp>
      <p:sp>
        <p:nvSpPr>
          <p:cNvPr id="16" name="Rounded Rectangle 15"/>
          <p:cNvSpPr/>
          <p:nvPr/>
        </p:nvSpPr>
        <p:spPr>
          <a:xfrm>
            <a:off x="7589520" y="4069080"/>
            <a:ext cx="1828800" cy="621792"/>
          </a:xfrm>
          <a:prstGeom prst="roundRect">
            <a:avLst/>
          </a:prstGeom>
          <a:solidFill>
            <a:srgbClr val="FFF3E0"/>
          </a:solidFill>
          <a:ln w="17780">
            <a:solidFill>
              <a:srgbClr val="C273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42A4F"/>
                </a:solidFill>
                <a:latin typeface="Aptos"/>
              </a:rPr>
              <a:t>Child copy
value = 200</a:t>
            </a:r>
          </a:p>
        </p:txBody>
      </p:sp>
      <p:cxnSp>
        <p:nvCxnSpPr>
          <p:cNvPr id="17" name="Connector 16"/>
          <p:cNvCxnSpPr/>
          <p:nvPr/>
        </p:nvCxnSpPr>
        <p:spPr>
          <a:xfrm flipH="1">
            <a:off x="5623560" y="3246120"/>
            <a:ext cx="914400" cy="795528"/>
          </a:xfrm>
          <a:prstGeom prst="line">
            <a:avLst/>
          </a:prstGeom>
          <a:ln w="22860">
            <a:solidFill>
              <a:srgbClr val="275DA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680960" y="3246120"/>
            <a:ext cx="777240" cy="795528"/>
          </a:xfrm>
          <a:prstGeom prst="line">
            <a:avLst/>
          </a:prstGeom>
          <a:ln w="22860">
            <a:solidFill>
              <a:srgbClr val="C2731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709160" y="4983480"/>
            <a:ext cx="4754880" cy="566928"/>
          </a:xfrm>
          <a:prstGeom prst="rect">
            <a:avLst/>
          </a:prstGeom>
          <a:noFill/>
        </p:spPr>
        <p:txBody>
          <a:bodyPr wrap="square" lIns="54864" rIns="54864" tIns="54864" bIns="54864" anchor="t">
            <a:spAutoFit/>
          </a:bodyPr>
          <a:lstStyle/>
          <a:p>
            <a:pPr algn="l">
              <a:spcAft>
                <a:spcPts val="0"/>
              </a:spcAft>
            </a:pPr>
            <a:r>
              <a:rPr sz="1200" b="0" i="1">
                <a:solidFill>
                  <a:srgbClr val="556273"/>
                </a:solidFill>
                <a:latin typeface="Aptos"/>
              </a:rPr>
              <a:t>Conceptual kernel behavior; the program does not directly inspect page frames.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475488"/>
          </a:xfrm>
          <a:prstGeom prst="rect">
            <a:avLst/>
          </a:prstGeom>
          <a:noFill/>
        </p:spPr>
        <p:txBody>
          <a:bodyPr wrap="square" lIns="54864" rIns="54864" tIns="54864" bIns="54864" anchor="t">
            <a:spAutoFit/>
          </a:bodyPr>
          <a:lstStyle/>
          <a:p>
            <a:pPr algn="l">
              <a:spcAft>
                <a:spcPts val="0"/>
              </a:spcAft>
            </a:pPr>
            <a:r>
              <a:rPr sz="2800" b="1" i="0">
                <a:solidFill>
                  <a:srgbClr val="142A4F"/>
                </a:solidFill>
                <a:latin typeface="Aptos"/>
              </a:rPr>
              <a:t>Project Objectives</a:t>
            </a:r>
          </a:p>
        </p:txBody>
      </p:sp>
      <p:sp>
        <p:nvSpPr>
          <p:cNvPr id="3" name="Rectangle 2"/>
          <p:cNvSpPr/>
          <p:nvPr/>
        </p:nvSpPr>
        <p:spPr>
          <a:xfrm>
            <a:off x="594360" y="832104"/>
            <a:ext cx="914400" cy="50292"/>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27632" y="731520"/>
            <a:ext cx="9966960" cy="274320"/>
          </a:xfrm>
          <a:prstGeom prst="rect">
            <a:avLst/>
          </a:prstGeom>
          <a:noFill/>
        </p:spPr>
        <p:txBody>
          <a:bodyPr wrap="square" lIns="54864" rIns="54864" tIns="54864" bIns="54864" anchor="t">
            <a:spAutoFit/>
          </a:bodyPr>
          <a:lstStyle/>
          <a:p>
            <a:pPr algn="l">
              <a:spcAft>
                <a:spcPts val="0"/>
              </a:spcAft>
            </a:pPr>
            <a:r>
              <a:rPr sz="1100" b="0" i="0">
                <a:solidFill>
                  <a:srgbClr val="556273"/>
                </a:solidFill>
                <a:latin typeface="Aptos"/>
              </a:rPr>
              <a:t>Small experiment, clear evidence</a:t>
            </a:r>
          </a:p>
        </p:txBody>
      </p:sp>
      <p:sp>
        <p:nvSpPr>
          <p:cNvPr id="5" name="TextBox 4"/>
          <p:cNvSpPr txBox="1"/>
          <p:nvPr/>
        </p:nvSpPr>
        <p:spPr>
          <a:xfrm>
            <a:off x="594360" y="6510528"/>
            <a:ext cx="9875520" cy="164592"/>
          </a:xfrm>
          <a:prstGeom prst="rect">
            <a:avLst/>
          </a:prstGeom>
          <a:noFill/>
        </p:spPr>
        <p:txBody>
          <a:bodyPr wrap="square" lIns="54864" rIns="54864" tIns="54864" bIns="54864" anchor="t">
            <a:spAutoFit/>
          </a:bodyPr>
          <a:lstStyle/>
          <a:p>
            <a:pPr algn="l">
              <a:spcAft>
                <a:spcPts val="0"/>
              </a:spcAft>
            </a:pPr>
            <a:r>
              <a:rPr sz="800" b="1" i="0">
                <a:solidFill>
                  <a:srgbClr val="556273"/>
                </a:solidFill>
                <a:latin typeface="Aptos"/>
              </a:rPr>
              <a:t>COPY-ON-WRITE MEMORY DEMONSTRATOR  •  OPERATING SYSTEMS</a:t>
            </a:r>
          </a:p>
        </p:txBody>
      </p:sp>
      <p:sp>
        <p:nvSpPr>
          <p:cNvPr id="6" name="TextBox 5"/>
          <p:cNvSpPr txBox="1"/>
          <p:nvPr/>
        </p:nvSpPr>
        <p:spPr>
          <a:xfrm>
            <a:off x="11064240" y="6473952"/>
            <a:ext cx="502920" cy="201168"/>
          </a:xfrm>
          <a:prstGeom prst="rect">
            <a:avLst/>
          </a:prstGeom>
          <a:noFill/>
        </p:spPr>
        <p:txBody>
          <a:bodyPr wrap="square" lIns="54864" rIns="54864" tIns="54864" bIns="54864" anchor="t">
            <a:spAutoFit/>
          </a:bodyPr>
          <a:lstStyle/>
          <a:p>
            <a:pPr algn="r">
              <a:spcAft>
                <a:spcPts val="0"/>
              </a:spcAft>
            </a:pPr>
            <a:r>
              <a:rPr sz="900" b="1" i="0">
                <a:solidFill>
                  <a:srgbClr val="556273"/>
                </a:solidFill>
                <a:latin typeface="Aptos"/>
              </a:rPr>
              <a:t>04 / 10</a:t>
            </a:r>
          </a:p>
        </p:txBody>
      </p:sp>
      <p:sp>
        <p:nvSpPr>
          <p:cNvPr id="7" name="Oval 6"/>
          <p:cNvSpPr/>
          <p:nvPr/>
        </p:nvSpPr>
        <p:spPr>
          <a:xfrm>
            <a:off x="822960" y="1243584"/>
            <a:ext cx="475488" cy="475488"/>
          </a:xfrm>
          <a:prstGeom prst="ellipse">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01</a:t>
            </a:r>
          </a:p>
        </p:txBody>
      </p:sp>
      <p:sp>
        <p:nvSpPr>
          <p:cNvPr id="8" name="TextBox 7"/>
          <p:cNvSpPr txBox="1"/>
          <p:nvPr/>
        </p:nvSpPr>
        <p:spPr>
          <a:xfrm>
            <a:off x="1508760" y="1207008"/>
            <a:ext cx="2926080" cy="310896"/>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Create a child process</a:t>
            </a:r>
          </a:p>
        </p:txBody>
      </p:sp>
      <p:sp>
        <p:nvSpPr>
          <p:cNvPr id="9" name="TextBox 8"/>
          <p:cNvSpPr txBox="1"/>
          <p:nvPr/>
        </p:nvSpPr>
        <p:spPr>
          <a:xfrm>
            <a:off x="4251960" y="1207008"/>
            <a:ext cx="7132320" cy="530352"/>
          </a:xfrm>
          <a:prstGeom prst="rect">
            <a:avLst/>
          </a:prstGeom>
          <a:noFill/>
        </p:spPr>
        <p:txBody>
          <a:bodyPr wrap="square" lIns="54864" rIns="54864" tIns="54864" bIns="54864" anchor="t">
            <a:spAutoFit/>
          </a:bodyPr>
          <a:lstStyle/>
          <a:p>
            <a:pPr algn="l">
              <a:spcAft>
                <a:spcPts val="0"/>
              </a:spcAft>
            </a:pPr>
            <a:r>
              <a:rPr sz="1500" b="0" i="0">
                <a:solidFill>
                  <a:srgbClr val="1C232D"/>
                </a:solidFill>
                <a:latin typeface="Aptos"/>
              </a:rPr>
              <a:t>Use fork() to create a child from the parent.</a:t>
            </a:r>
          </a:p>
        </p:txBody>
      </p:sp>
      <p:sp>
        <p:nvSpPr>
          <p:cNvPr id="10" name="Oval 9"/>
          <p:cNvSpPr/>
          <p:nvPr/>
        </p:nvSpPr>
        <p:spPr>
          <a:xfrm>
            <a:off x="822960" y="2194560"/>
            <a:ext cx="475488" cy="475488"/>
          </a:xfrm>
          <a:prstGeom prst="ellipse">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02</a:t>
            </a:r>
          </a:p>
        </p:txBody>
      </p:sp>
      <p:sp>
        <p:nvSpPr>
          <p:cNvPr id="11" name="TextBox 10"/>
          <p:cNvSpPr txBox="1"/>
          <p:nvPr/>
        </p:nvSpPr>
        <p:spPr>
          <a:xfrm>
            <a:off x="1508760" y="2157984"/>
            <a:ext cx="2926080" cy="310896"/>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Map a memory region</a:t>
            </a:r>
          </a:p>
        </p:txBody>
      </p:sp>
      <p:sp>
        <p:nvSpPr>
          <p:cNvPr id="12" name="TextBox 11"/>
          <p:cNvSpPr txBox="1"/>
          <p:nvPr/>
        </p:nvSpPr>
        <p:spPr>
          <a:xfrm>
            <a:off x="4251960" y="2157984"/>
            <a:ext cx="7132320" cy="530352"/>
          </a:xfrm>
          <a:prstGeom prst="rect">
            <a:avLst/>
          </a:prstGeom>
          <a:noFill/>
        </p:spPr>
        <p:txBody>
          <a:bodyPr wrap="square" lIns="54864" rIns="54864" tIns="54864" bIns="54864" anchor="t">
            <a:spAutoFit/>
          </a:bodyPr>
          <a:lstStyle/>
          <a:p>
            <a:pPr algn="l">
              <a:spcAft>
                <a:spcPts val="0"/>
              </a:spcAft>
            </a:pPr>
            <a:r>
              <a:rPr sz="1500" b="0" i="0">
                <a:solidFill>
                  <a:srgbClr val="1C232D"/>
                </a:solidFill>
                <a:latin typeface="Aptos"/>
              </a:rPr>
              <a:t>Use mmap() with MAP_PRIVATE | MAP_ANONYMOUS.</a:t>
            </a:r>
          </a:p>
        </p:txBody>
      </p:sp>
      <p:sp>
        <p:nvSpPr>
          <p:cNvPr id="13" name="Oval 12"/>
          <p:cNvSpPr/>
          <p:nvPr/>
        </p:nvSpPr>
        <p:spPr>
          <a:xfrm>
            <a:off x="822960" y="3145536"/>
            <a:ext cx="475488" cy="475488"/>
          </a:xfrm>
          <a:prstGeom prst="ellipse">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03</a:t>
            </a:r>
          </a:p>
        </p:txBody>
      </p:sp>
      <p:sp>
        <p:nvSpPr>
          <p:cNvPr id="14" name="TextBox 13"/>
          <p:cNvSpPr txBox="1"/>
          <p:nvPr/>
        </p:nvSpPr>
        <p:spPr>
          <a:xfrm>
            <a:off x="1508760" y="3108960"/>
            <a:ext cx="2926080" cy="310896"/>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Change child data</a:t>
            </a:r>
          </a:p>
        </p:txBody>
      </p:sp>
      <p:sp>
        <p:nvSpPr>
          <p:cNvPr id="15" name="TextBox 14"/>
          <p:cNvSpPr txBox="1"/>
          <p:nvPr/>
        </p:nvSpPr>
        <p:spPr>
          <a:xfrm>
            <a:off x="4251960" y="3108960"/>
            <a:ext cx="7132320" cy="530352"/>
          </a:xfrm>
          <a:prstGeom prst="rect">
            <a:avLst/>
          </a:prstGeom>
          <a:noFill/>
        </p:spPr>
        <p:txBody>
          <a:bodyPr wrap="square" lIns="54864" rIns="54864" tIns="54864" bIns="54864" anchor="t">
            <a:spAutoFit/>
          </a:bodyPr>
          <a:lstStyle/>
          <a:p>
            <a:pPr algn="l">
              <a:spcAft>
                <a:spcPts val="0"/>
              </a:spcAft>
            </a:pPr>
            <a:r>
              <a:rPr sz="1500" b="0" i="0">
                <a:solidFill>
                  <a:srgbClr val="1C232D"/>
                </a:solidFill>
                <a:latin typeface="Aptos"/>
              </a:rPr>
              <a:t>Read 100 in the child, then write 200.</a:t>
            </a:r>
          </a:p>
        </p:txBody>
      </p:sp>
      <p:sp>
        <p:nvSpPr>
          <p:cNvPr id="16" name="Oval 15"/>
          <p:cNvSpPr/>
          <p:nvPr/>
        </p:nvSpPr>
        <p:spPr>
          <a:xfrm>
            <a:off x="822960" y="4096512"/>
            <a:ext cx="475488" cy="475488"/>
          </a:xfrm>
          <a:prstGeom prst="ellipse">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04</a:t>
            </a:r>
          </a:p>
        </p:txBody>
      </p:sp>
      <p:sp>
        <p:nvSpPr>
          <p:cNvPr id="17" name="TextBox 16"/>
          <p:cNvSpPr txBox="1"/>
          <p:nvPr/>
        </p:nvSpPr>
        <p:spPr>
          <a:xfrm>
            <a:off x="1508760" y="4059936"/>
            <a:ext cx="2926080" cy="310896"/>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Check parent data</a:t>
            </a:r>
          </a:p>
        </p:txBody>
      </p:sp>
      <p:sp>
        <p:nvSpPr>
          <p:cNvPr id="18" name="TextBox 17"/>
          <p:cNvSpPr txBox="1"/>
          <p:nvPr/>
        </p:nvSpPr>
        <p:spPr>
          <a:xfrm>
            <a:off x="4251960" y="4059936"/>
            <a:ext cx="7132320" cy="530352"/>
          </a:xfrm>
          <a:prstGeom prst="rect">
            <a:avLst/>
          </a:prstGeom>
          <a:noFill/>
        </p:spPr>
        <p:txBody>
          <a:bodyPr wrap="square" lIns="54864" rIns="54864" tIns="54864" bIns="54864" anchor="t">
            <a:spAutoFit/>
          </a:bodyPr>
          <a:lstStyle/>
          <a:p>
            <a:pPr algn="l">
              <a:spcAft>
                <a:spcPts val="0"/>
              </a:spcAft>
            </a:pPr>
            <a:r>
              <a:rPr sz="1500" b="0" i="0">
                <a:solidFill>
                  <a:srgbClr val="1C232D"/>
                </a:solidFill>
                <a:latin typeface="Aptos"/>
              </a:rPr>
              <a:t>Use waitpid() and confirm the parent still reads 100.</a:t>
            </a:r>
          </a:p>
        </p:txBody>
      </p:sp>
      <p:sp>
        <p:nvSpPr>
          <p:cNvPr id="19" name="Oval 18"/>
          <p:cNvSpPr/>
          <p:nvPr/>
        </p:nvSpPr>
        <p:spPr>
          <a:xfrm>
            <a:off x="822960" y="5047488"/>
            <a:ext cx="475488" cy="475488"/>
          </a:xfrm>
          <a:prstGeom prst="ellipse">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05</a:t>
            </a:r>
          </a:p>
        </p:txBody>
      </p:sp>
      <p:sp>
        <p:nvSpPr>
          <p:cNvPr id="20" name="TextBox 19"/>
          <p:cNvSpPr txBox="1"/>
          <p:nvPr/>
        </p:nvSpPr>
        <p:spPr>
          <a:xfrm>
            <a:off x="1508760" y="5010912"/>
            <a:ext cx="2926080" cy="310896"/>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Validate in WSL</a:t>
            </a:r>
          </a:p>
        </p:txBody>
      </p:sp>
      <p:sp>
        <p:nvSpPr>
          <p:cNvPr id="21" name="TextBox 20"/>
          <p:cNvSpPr txBox="1"/>
          <p:nvPr/>
        </p:nvSpPr>
        <p:spPr>
          <a:xfrm>
            <a:off x="4251960" y="5010912"/>
            <a:ext cx="7132320" cy="530352"/>
          </a:xfrm>
          <a:prstGeom prst="rect">
            <a:avLst/>
          </a:prstGeom>
          <a:noFill/>
        </p:spPr>
        <p:txBody>
          <a:bodyPr wrap="square" lIns="54864" rIns="54864" tIns="54864" bIns="54864" anchor="t">
            <a:spAutoFit/>
          </a:bodyPr>
          <a:lstStyle/>
          <a:p>
            <a:pPr algn="l">
              <a:spcAft>
                <a:spcPts val="0"/>
              </a:spcAft>
            </a:pPr>
            <a:r>
              <a:rPr sz="1500" b="0" i="0">
                <a:solidFill>
                  <a:srgbClr val="1C232D"/>
                </a:solidFill>
                <a:latin typeface="Aptos"/>
              </a:rPr>
              <a:t>Compile with GCC and compare actual output with expected results.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475488"/>
          </a:xfrm>
          <a:prstGeom prst="rect">
            <a:avLst/>
          </a:prstGeom>
          <a:noFill/>
        </p:spPr>
        <p:txBody>
          <a:bodyPr wrap="square" lIns="54864" rIns="54864" tIns="54864" bIns="54864" anchor="t">
            <a:spAutoFit/>
          </a:bodyPr>
          <a:lstStyle/>
          <a:p>
            <a:pPr algn="l">
              <a:spcAft>
                <a:spcPts val="0"/>
              </a:spcAft>
            </a:pPr>
            <a:r>
              <a:rPr sz="2800" b="1" i="0">
                <a:solidFill>
                  <a:srgbClr val="142A4F"/>
                </a:solidFill>
                <a:latin typeface="Aptos"/>
              </a:rPr>
              <a:t>System Architecture and Flowchart</a:t>
            </a:r>
          </a:p>
        </p:txBody>
      </p:sp>
      <p:sp>
        <p:nvSpPr>
          <p:cNvPr id="3" name="Rectangle 2"/>
          <p:cNvSpPr/>
          <p:nvPr/>
        </p:nvSpPr>
        <p:spPr>
          <a:xfrm>
            <a:off x="594360" y="832104"/>
            <a:ext cx="914400" cy="50292"/>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27632" y="731520"/>
            <a:ext cx="9966960" cy="274320"/>
          </a:xfrm>
          <a:prstGeom prst="rect">
            <a:avLst/>
          </a:prstGeom>
          <a:noFill/>
        </p:spPr>
        <p:txBody>
          <a:bodyPr wrap="square" lIns="54864" rIns="54864" tIns="54864" bIns="54864" anchor="t">
            <a:spAutoFit/>
          </a:bodyPr>
          <a:lstStyle/>
          <a:p>
            <a:pPr algn="l">
              <a:spcAft>
                <a:spcPts val="0"/>
              </a:spcAft>
            </a:pPr>
            <a:r>
              <a:rPr sz="1100" b="0" i="0">
                <a:solidFill>
                  <a:srgbClr val="556273"/>
                </a:solidFill>
                <a:latin typeface="Aptos"/>
              </a:rPr>
              <a:t>Program sequence and the two process paths</a:t>
            </a:r>
          </a:p>
        </p:txBody>
      </p:sp>
      <p:sp>
        <p:nvSpPr>
          <p:cNvPr id="5" name="TextBox 4"/>
          <p:cNvSpPr txBox="1"/>
          <p:nvPr/>
        </p:nvSpPr>
        <p:spPr>
          <a:xfrm>
            <a:off x="594360" y="6510528"/>
            <a:ext cx="9875520" cy="164592"/>
          </a:xfrm>
          <a:prstGeom prst="rect">
            <a:avLst/>
          </a:prstGeom>
          <a:noFill/>
        </p:spPr>
        <p:txBody>
          <a:bodyPr wrap="square" lIns="54864" rIns="54864" tIns="54864" bIns="54864" anchor="t">
            <a:spAutoFit/>
          </a:bodyPr>
          <a:lstStyle/>
          <a:p>
            <a:pPr algn="l">
              <a:spcAft>
                <a:spcPts val="0"/>
              </a:spcAft>
            </a:pPr>
            <a:r>
              <a:rPr sz="800" b="1" i="0">
                <a:solidFill>
                  <a:srgbClr val="556273"/>
                </a:solidFill>
                <a:latin typeface="Aptos"/>
              </a:rPr>
              <a:t>COPY-ON-WRITE MEMORY DEMONSTRATOR  •  OPERATING SYSTEMS</a:t>
            </a:r>
          </a:p>
        </p:txBody>
      </p:sp>
      <p:sp>
        <p:nvSpPr>
          <p:cNvPr id="6" name="TextBox 5"/>
          <p:cNvSpPr txBox="1"/>
          <p:nvPr/>
        </p:nvSpPr>
        <p:spPr>
          <a:xfrm>
            <a:off x="11064240" y="6473952"/>
            <a:ext cx="502920" cy="201168"/>
          </a:xfrm>
          <a:prstGeom prst="rect">
            <a:avLst/>
          </a:prstGeom>
          <a:noFill/>
        </p:spPr>
        <p:txBody>
          <a:bodyPr wrap="square" lIns="54864" rIns="54864" tIns="54864" bIns="54864" anchor="t">
            <a:spAutoFit/>
          </a:bodyPr>
          <a:lstStyle/>
          <a:p>
            <a:pPr algn="r">
              <a:spcAft>
                <a:spcPts val="0"/>
              </a:spcAft>
            </a:pPr>
            <a:r>
              <a:rPr sz="900" b="1" i="0">
                <a:solidFill>
                  <a:srgbClr val="556273"/>
                </a:solidFill>
                <a:latin typeface="Aptos"/>
              </a:rPr>
              <a:t>05 / 10</a:t>
            </a:r>
          </a:p>
        </p:txBody>
      </p:sp>
      <p:sp>
        <p:nvSpPr>
          <p:cNvPr id="7" name="Rounded Rectangle 6"/>
          <p:cNvSpPr/>
          <p:nvPr/>
        </p:nvSpPr>
        <p:spPr>
          <a:xfrm>
            <a:off x="411480" y="1234440"/>
            <a:ext cx="1234440" cy="502920"/>
          </a:xfrm>
          <a:prstGeom prst="roundRect">
            <a:avLst/>
          </a:prstGeom>
          <a:solidFill>
            <a:srgbClr val="EBF2FA"/>
          </a:solidFill>
          <a:ln w="17780">
            <a:solidFill>
              <a:srgbClr val="275D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142A4F"/>
                </a:solidFill>
                <a:latin typeface="Aptos"/>
              </a:rPr>
              <a:t>Start</a:t>
            </a:r>
          </a:p>
        </p:txBody>
      </p:sp>
      <p:sp>
        <p:nvSpPr>
          <p:cNvPr id="8" name="Rounded Rectangle 7"/>
          <p:cNvSpPr/>
          <p:nvPr/>
        </p:nvSpPr>
        <p:spPr>
          <a:xfrm>
            <a:off x="1828800" y="1234440"/>
            <a:ext cx="1645920" cy="502920"/>
          </a:xfrm>
          <a:prstGeom prst="roundRect">
            <a:avLst/>
          </a:prstGeom>
          <a:solidFill>
            <a:srgbClr val="EBF2FA"/>
          </a:solidFill>
          <a:ln w="17780">
            <a:solidFill>
              <a:srgbClr val="275D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142A4F"/>
                </a:solidFill>
                <a:latin typeface="Aptos"/>
              </a:rPr>
              <a:t>Allocate memory</a:t>
            </a:r>
          </a:p>
        </p:txBody>
      </p:sp>
      <p:sp>
        <p:nvSpPr>
          <p:cNvPr id="9" name="Rounded Rectangle 8"/>
          <p:cNvSpPr/>
          <p:nvPr/>
        </p:nvSpPr>
        <p:spPr>
          <a:xfrm>
            <a:off x="3657600" y="1234440"/>
            <a:ext cx="1828800" cy="502920"/>
          </a:xfrm>
          <a:prstGeom prst="roundRect">
            <a:avLst/>
          </a:prstGeom>
          <a:solidFill>
            <a:srgbClr val="EBF2FA"/>
          </a:solidFill>
          <a:ln w="17780">
            <a:solidFill>
              <a:srgbClr val="275D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142A4F"/>
                </a:solidFill>
                <a:latin typeface="Aptos"/>
              </a:rPr>
              <a:t>Set value = 100</a:t>
            </a:r>
          </a:p>
        </p:txBody>
      </p:sp>
      <p:sp>
        <p:nvSpPr>
          <p:cNvPr id="10" name="Rounded Rectangle 9"/>
          <p:cNvSpPr/>
          <p:nvPr/>
        </p:nvSpPr>
        <p:spPr>
          <a:xfrm>
            <a:off x="5669280" y="1234440"/>
            <a:ext cx="1325880" cy="502920"/>
          </a:xfrm>
          <a:prstGeom prst="roundRect">
            <a:avLst/>
          </a:prstGeom>
          <a:solidFill>
            <a:srgbClr val="EBF2FA"/>
          </a:solidFill>
          <a:ln w="17780">
            <a:solidFill>
              <a:srgbClr val="275D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142A4F"/>
                </a:solidFill>
                <a:latin typeface="Aptos"/>
              </a:rPr>
              <a:t>fork()</a:t>
            </a:r>
          </a:p>
        </p:txBody>
      </p:sp>
      <p:cxnSp>
        <p:nvCxnSpPr>
          <p:cNvPr id="11" name="Connector 10"/>
          <p:cNvCxnSpPr/>
          <p:nvPr/>
        </p:nvCxnSpPr>
        <p:spPr>
          <a:xfrm>
            <a:off x="1645920" y="1481328"/>
            <a:ext cx="182880" cy="0"/>
          </a:xfrm>
          <a:prstGeom prst="line">
            <a:avLst/>
          </a:prstGeom>
          <a:ln w="19050">
            <a:solidFill>
              <a:srgbClr val="275D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474720" y="1481328"/>
            <a:ext cx="182880" cy="0"/>
          </a:xfrm>
          <a:prstGeom prst="line">
            <a:avLst/>
          </a:prstGeom>
          <a:ln w="19050">
            <a:solidFill>
              <a:srgbClr val="275DA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1481328"/>
            <a:ext cx="182880" cy="0"/>
          </a:xfrm>
          <a:prstGeom prst="line">
            <a:avLst/>
          </a:prstGeom>
          <a:ln w="19050">
            <a:solidFill>
              <a:srgbClr val="275DA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327648" y="1737360"/>
            <a:ext cx="0" cy="320040"/>
          </a:xfrm>
          <a:prstGeom prst="line">
            <a:avLst/>
          </a:prstGeom>
          <a:ln w="19050">
            <a:solidFill>
              <a:srgbClr val="275DA6"/>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88920" y="2103120"/>
            <a:ext cx="2057400" cy="530352"/>
          </a:xfrm>
          <a:prstGeom prst="roundRect">
            <a:avLst/>
          </a:prstGeom>
          <a:solidFill>
            <a:srgbClr val="FFF3E0"/>
          </a:solidFill>
          <a:ln w="17780">
            <a:solidFill>
              <a:srgbClr val="C273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42A4F"/>
                </a:solidFill>
                <a:latin typeface="Aptos"/>
              </a:rPr>
              <a:t>CHILD path</a:t>
            </a:r>
          </a:p>
        </p:txBody>
      </p:sp>
      <p:sp>
        <p:nvSpPr>
          <p:cNvPr id="16" name="Rounded Rectangle 15"/>
          <p:cNvSpPr/>
          <p:nvPr/>
        </p:nvSpPr>
        <p:spPr>
          <a:xfrm>
            <a:off x="6903720" y="2103120"/>
            <a:ext cx="2057400" cy="530352"/>
          </a:xfrm>
          <a:prstGeom prst="roundRect">
            <a:avLst/>
          </a:prstGeom>
          <a:solidFill>
            <a:srgbClr val="E7F1E8"/>
          </a:solidFill>
          <a:ln w="17780">
            <a:solidFill>
              <a:srgbClr val="277D5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a:solidFill>
                  <a:srgbClr val="142A4F"/>
                </a:solidFill>
                <a:latin typeface="Aptos"/>
              </a:rPr>
              <a:t>PARENT path</a:t>
            </a:r>
          </a:p>
        </p:txBody>
      </p:sp>
      <p:cxnSp>
        <p:nvCxnSpPr>
          <p:cNvPr id="17" name="Connector 16"/>
          <p:cNvCxnSpPr/>
          <p:nvPr/>
        </p:nvCxnSpPr>
        <p:spPr>
          <a:xfrm flipH="1">
            <a:off x="3840480" y="2057400"/>
            <a:ext cx="2487168" cy="45720"/>
          </a:xfrm>
          <a:prstGeom prst="line">
            <a:avLst/>
          </a:prstGeom>
          <a:ln w="19050">
            <a:solidFill>
              <a:srgbClr val="C2731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27648" y="2057400"/>
            <a:ext cx="1581912" cy="45720"/>
          </a:xfrm>
          <a:prstGeom prst="line">
            <a:avLst/>
          </a:prstGeom>
          <a:ln w="19050">
            <a:solidFill>
              <a:srgbClr val="277D5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240280" y="2971800"/>
            <a:ext cx="1508760" cy="512064"/>
          </a:xfrm>
          <a:prstGeom prst="roundRect">
            <a:avLst/>
          </a:prstGeom>
          <a:solidFill>
            <a:srgbClr val="FFFFFF"/>
          </a:solidFill>
          <a:ln w="17780">
            <a:solidFill>
              <a:srgbClr val="C273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142A4F"/>
                </a:solidFill>
                <a:latin typeface="Aptos"/>
              </a:rPr>
              <a:t>Read 100</a:t>
            </a:r>
          </a:p>
        </p:txBody>
      </p:sp>
      <p:sp>
        <p:nvSpPr>
          <p:cNvPr id="20" name="Rounded Rectangle 19"/>
          <p:cNvSpPr/>
          <p:nvPr/>
        </p:nvSpPr>
        <p:spPr>
          <a:xfrm>
            <a:off x="3977639" y="2971800"/>
            <a:ext cx="1508760" cy="512064"/>
          </a:xfrm>
          <a:prstGeom prst="roundRect">
            <a:avLst/>
          </a:prstGeom>
          <a:solidFill>
            <a:srgbClr val="FFFFFF"/>
          </a:solidFill>
          <a:ln w="17780">
            <a:solidFill>
              <a:srgbClr val="C273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142A4F"/>
                </a:solidFill>
                <a:latin typeface="Aptos"/>
              </a:rPr>
              <a:t>Write 200</a:t>
            </a:r>
          </a:p>
        </p:txBody>
      </p:sp>
      <p:sp>
        <p:nvSpPr>
          <p:cNvPr id="21" name="Rounded Rectangle 20"/>
          <p:cNvSpPr/>
          <p:nvPr/>
        </p:nvSpPr>
        <p:spPr>
          <a:xfrm>
            <a:off x="3108960" y="3767328"/>
            <a:ext cx="1600200" cy="512064"/>
          </a:xfrm>
          <a:prstGeom prst="roundRect">
            <a:avLst/>
          </a:prstGeom>
          <a:solidFill>
            <a:srgbClr val="FFFFFF"/>
          </a:solidFill>
          <a:ln w="17780">
            <a:solidFill>
              <a:srgbClr val="C273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142A4F"/>
                </a:solidFill>
                <a:latin typeface="Aptos"/>
              </a:rPr>
              <a:t>Display 200</a:t>
            </a:r>
          </a:p>
        </p:txBody>
      </p:sp>
      <p:sp>
        <p:nvSpPr>
          <p:cNvPr id="22" name="Rounded Rectangle 21"/>
          <p:cNvSpPr/>
          <p:nvPr/>
        </p:nvSpPr>
        <p:spPr>
          <a:xfrm>
            <a:off x="3108960" y="4498848"/>
            <a:ext cx="1600200" cy="512064"/>
          </a:xfrm>
          <a:prstGeom prst="roundRect">
            <a:avLst/>
          </a:prstGeom>
          <a:solidFill>
            <a:srgbClr val="FFFFFF"/>
          </a:solidFill>
          <a:ln w="17780">
            <a:solidFill>
              <a:srgbClr val="C2731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142A4F"/>
                </a:solidFill>
                <a:latin typeface="Aptos"/>
              </a:rPr>
              <a:t>Exit child</a:t>
            </a:r>
          </a:p>
        </p:txBody>
      </p:sp>
      <p:cxnSp>
        <p:nvCxnSpPr>
          <p:cNvPr id="23" name="Connector 22"/>
          <p:cNvCxnSpPr/>
          <p:nvPr/>
        </p:nvCxnSpPr>
        <p:spPr>
          <a:xfrm flipH="1">
            <a:off x="2971800" y="2633472"/>
            <a:ext cx="822960" cy="310896"/>
          </a:xfrm>
          <a:prstGeom prst="line">
            <a:avLst/>
          </a:prstGeom>
          <a:ln w="17780">
            <a:solidFill>
              <a:srgbClr val="C2731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49039" y="3227832"/>
            <a:ext cx="228600" cy="0"/>
          </a:xfrm>
          <a:prstGeom prst="line">
            <a:avLst/>
          </a:prstGeom>
          <a:ln w="17780">
            <a:solidFill>
              <a:srgbClr val="C2731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4023360" y="3493008"/>
            <a:ext cx="731520" cy="256031"/>
          </a:xfrm>
          <a:prstGeom prst="line">
            <a:avLst/>
          </a:prstGeom>
          <a:ln w="17780">
            <a:solidFill>
              <a:srgbClr val="C2731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913632" y="4279392"/>
            <a:ext cx="0" cy="201168"/>
          </a:xfrm>
          <a:prstGeom prst="line">
            <a:avLst/>
          </a:prstGeom>
          <a:ln w="17780">
            <a:solidFill>
              <a:srgbClr val="C2731F"/>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132320" y="2971800"/>
            <a:ext cx="1600200" cy="512064"/>
          </a:xfrm>
          <a:prstGeom prst="roundRect">
            <a:avLst/>
          </a:prstGeom>
          <a:solidFill>
            <a:srgbClr val="FFFFFF"/>
          </a:solidFill>
          <a:ln w="17780">
            <a:solidFill>
              <a:srgbClr val="277D5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142A4F"/>
                </a:solidFill>
                <a:latin typeface="Aptos"/>
              </a:rPr>
              <a:t>waitpid()</a:t>
            </a:r>
          </a:p>
        </p:txBody>
      </p:sp>
      <p:sp>
        <p:nvSpPr>
          <p:cNvPr id="28" name="Rounded Rectangle 27"/>
          <p:cNvSpPr/>
          <p:nvPr/>
        </p:nvSpPr>
        <p:spPr>
          <a:xfrm>
            <a:off x="7132320" y="3767328"/>
            <a:ext cx="1600200" cy="512064"/>
          </a:xfrm>
          <a:prstGeom prst="roundRect">
            <a:avLst/>
          </a:prstGeom>
          <a:solidFill>
            <a:srgbClr val="FFFFFF"/>
          </a:solidFill>
          <a:ln w="17780">
            <a:solidFill>
              <a:srgbClr val="277D5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142A4F"/>
                </a:solidFill>
                <a:latin typeface="Aptos"/>
              </a:rPr>
              <a:t>Read 100</a:t>
            </a:r>
          </a:p>
        </p:txBody>
      </p:sp>
      <p:sp>
        <p:nvSpPr>
          <p:cNvPr id="29" name="Rounded Rectangle 28"/>
          <p:cNvSpPr/>
          <p:nvPr/>
        </p:nvSpPr>
        <p:spPr>
          <a:xfrm>
            <a:off x="7132320" y="4498848"/>
            <a:ext cx="1600200" cy="512064"/>
          </a:xfrm>
          <a:prstGeom prst="roundRect">
            <a:avLst/>
          </a:prstGeom>
          <a:solidFill>
            <a:srgbClr val="FFFFFF"/>
          </a:solidFill>
          <a:ln w="17780">
            <a:solidFill>
              <a:srgbClr val="277D5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142A4F"/>
                </a:solidFill>
                <a:latin typeface="Aptos"/>
              </a:rPr>
              <a:t>Display / Finish</a:t>
            </a:r>
          </a:p>
        </p:txBody>
      </p:sp>
      <p:cxnSp>
        <p:nvCxnSpPr>
          <p:cNvPr id="30" name="Connector 29"/>
          <p:cNvCxnSpPr/>
          <p:nvPr/>
        </p:nvCxnSpPr>
        <p:spPr>
          <a:xfrm>
            <a:off x="7909560" y="2633472"/>
            <a:ext cx="0" cy="310896"/>
          </a:xfrm>
          <a:prstGeom prst="line">
            <a:avLst/>
          </a:prstGeom>
          <a:ln w="17780">
            <a:solidFill>
              <a:srgbClr val="277D5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909560" y="3493008"/>
            <a:ext cx="0" cy="256031"/>
          </a:xfrm>
          <a:prstGeom prst="line">
            <a:avLst/>
          </a:prstGeom>
          <a:ln w="17780">
            <a:solidFill>
              <a:srgbClr val="277D5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909560" y="4279392"/>
            <a:ext cx="0" cy="201168"/>
          </a:xfrm>
          <a:prstGeom prst="line">
            <a:avLst/>
          </a:prstGeom>
          <a:ln w="17780">
            <a:solidFill>
              <a:srgbClr val="277D57"/>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144000" y="2148840"/>
            <a:ext cx="2331720" cy="1828800"/>
          </a:xfrm>
          <a:prstGeom prst="roundRect">
            <a:avLst/>
          </a:prstGeom>
          <a:solidFill>
            <a:srgbClr val="F6F8FB"/>
          </a:solidFill>
          <a:ln w="12700">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lstStyle/>
          <a:p>
            <a:pPr algn="ctr">
              <a:spcAft>
                <a:spcPts val="500"/>
              </a:spcAft>
              <a:defRPr sz="1500" b="1">
                <a:solidFill>
                  <a:srgbClr val="142A4F"/>
                </a:solidFill>
                <a:latin typeface="Aptos"/>
              </a:defRPr>
            </a:pPr>
            <a:r>
              <a:t>Memory behavior</a:t>
            </a:r>
          </a:p>
          <a:p>
            <a:pPr>
              <a:spcAft>
                <a:spcPts val="500"/>
              </a:spcAft>
              <a:defRPr sz="1200" b="0">
                <a:solidFill>
                  <a:srgbClr val="1C232D"/>
                </a:solidFill>
                <a:latin typeface="Aptos"/>
              </a:defRPr>
            </a:pPr>
            <a:r>
              <a:t>Before write: shared page is possible.</a:t>
            </a:r>
          </a:p>
          <a:p>
            <a:pPr>
              <a:spcAft>
                <a:spcPts val="500"/>
              </a:spcAft>
              <a:defRPr sz="1200" b="0">
                <a:solidFill>
                  <a:srgbClr val="1C232D"/>
                </a:solidFill>
                <a:latin typeface="Aptos"/>
              </a:defRPr>
            </a:pPr>
            <a:r>
              <a:t>After child write: private value 200; parent remains 100.</a:t>
            </a:r>
          </a:p>
        </p:txBody>
      </p:sp>
      <p:sp>
        <p:nvSpPr>
          <p:cNvPr id="34" name="TextBox 33"/>
          <p:cNvSpPr txBox="1"/>
          <p:nvPr/>
        </p:nvSpPr>
        <p:spPr>
          <a:xfrm>
            <a:off x="9189720" y="4297680"/>
            <a:ext cx="2194560" cy="777240"/>
          </a:xfrm>
          <a:prstGeom prst="rect">
            <a:avLst/>
          </a:prstGeom>
          <a:noFill/>
        </p:spPr>
        <p:txBody>
          <a:bodyPr wrap="square" lIns="54864" rIns="54864" tIns="54864" bIns="54864" anchor="t">
            <a:spAutoFit/>
          </a:bodyPr>
          <a:lstStyle/>
          <a:p>
            <a:pPr algn="l">
              <a:spcAft>
                <a:spcPts val="0"/>
              </a:spcAft>
            </a:pPr>
            <a:r>
              <a:rPr sz="1100" b="0" i="1">
                <a:solidFill>
                  <a:srgbClr val="556273"/>
                </a:solidFill>
                <a:latin typeface="Aptos"/>
              </a:rPr>
              <a:t>Conceptual view — not a page-frame measurement.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475488"/>
          </a:xfrm>
          <a:prstGeom prst="rect">
            <a:avLst/>
          </a:prstGeom>
          <a:noFill/>
        </p:spPr>
        <p:txBody>
          <a:bodyPr wrap="square" lIns="54864" rIns="54864" tIns="54864" bIns="54864" anchor="t">
            <a:spAutoFit/>
          </a:bodyPr>
          <a:lstStyle/>
          <a:p>
            <a:pPr algn="l">
              <a:spcAft>
                <a:spcPts val="0"/>
              </a:spcAft>
            </a:pPr>
            <a:r>
              <a:rPr sz="2800" b="1" i="0">
                <a:solidFill>
                  <a:srgbClr val="142A4F"/>
                </a:solidFill>
                <a:latin typeface="Aptos"/>
              </a:rPr>
              <a:t>Technologies and Implementation</a:t>
            </a:r>
          </a:p>
        </p:txBody>
      </p:sp>
      <p:sp>
        <p:nvSpPr>
          <p:cNvPr id="3" name="Rectangle 2"/>
          <p:cNvSpPr/>
          <p:nvPr/>
        </p:nvSpPr>
        <p:spPr>
          <a:xfrm>
            <a:off x="594360" y="832104"/>
            <a:ext cx="914400" cy="50292"/>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27632" y="731520"/>
            <a:ext cx="9966960" cy="274320"/>
          </a:xfrm>
          <a:prstGeom prst="rect">
            <a:avLst/>
          </a:prstGeom>
          <a:noFill/>
        </p:spPr>
        <p:txBody>
          <a:bodyPr wrap="square" lIns="54864" rIns="54864" tIns="54864" bIns="54864" anchor="t">
            <a:spAutoFit/>
          </a:bodyPr>
          <a:lstStyle/>
          <a:p>
            <a:pPr algn="l">
              <a:spcAft>
                <a:spcPts val="0"/>
              </a:spcAft>
            </a:pPr>
            <a:r>
              <a:rPr sz="1100" b="0" i="0">
                <a:solidFill>
                  <a:srgbClr val="556273"/>
                </a:solidFill>
                <a:latin typeface="Aptos"/>
              </a:rPr>
              <a:t>Tools and system-call roles</a:t>
            </a:r>
          </a:p>
        </p:txBody>
      </p:sp>
      <p:sp>
        <p:nvSpPr>
          <p:cNvPr id="5" name="TextBox 4"/>
          <p:cNvSpPr txBox="1"/>
          <p:nvPr/>
        </p:nvSpPr>
        <p:spPr>
          <a:xfrm>
            <a:off x="594360" y="6510528"/>
            <a:ext cx="9875520" cy="164592"/>
          </a:xfrm>
          <a:prstGeom prst="rect">
            <a:avLst/>
          </a:prstGeom>
          <a:noFill/>
        </p:spPr>
        <p:txBody>
          <a:bodyPr wrap="square" lIns="54864" rIns="54864" tIns="54864" bIns="54864" anchor="t">
            <a:spAutoFit/>
          </a:bodyPr>
          <a:lstStyle/>
          <a:p>
            <a:pPr algn="l">
              <a:spcAft>
                <a:spcPts val="0"/>
              </a:spcAft>
            </a:pPr>
            <a:r>
              <a:rPr sz="800" b="1" i="0">
                <a:solidFill>
                  <a:srgbClr val="556273"/>
                </a:solidFill>
                <a:latin typeface="Aptos"/>
              </a:rPr>
              <a:t>COPY-ON-WRITE MEMORY DEMONSTRATOR  •  OPERATING SYSTEMS</a:t>
            </a:r>
          </a:p>
        </p:txBody>
      </p:sp>
      <p:sp>
        <p:nvSpPr>
          <p:cNvPr id="6" name="TextBox 5"/>
          <p:cNvSpPr txBox="1"/>
          <p:nvPr/>
        </p:nvSpPr>
        <p:spPr>
          <a:xfrm>
            <a:off x="11064240" y="6473952"/>
            <a:ext cx="502920" cy="201168"/>
          </a:xfrm>
          <a:prstGeom prst="rect">
            <a:avLst/>
          </a:prstGeom>
          <a:noFill/>
        </p:spPr>
        <p:txBody>
          <a:bodyPr wrap="square" lIns="54864" rIns="54864" tIns="54864" bIns="54864" anchor="t">
            <a:spAutoFit/>
          </a:bodyPr>
          <a:lstStyle/>
          <a:p>
            <a:pPr algn="r">
              <a:spcAft>
                <a:spcPts val="0"/>
              </a:spcAft>
            </a:pPr>
            <a:r>
              <a:rPr sz="900" b="1" i="0">
                <a:solidFill>
                  <a:srgbClr val="556273"/>
                </a:solidFill>
                <a:latin typeface="Aptos"/>
              </a:rPr>
              <a:t>06 / 10</a:t>
            </a:r>
          </a:p>
        </p:txBody>
      </p:sp>
      <p:sp>
        <p:nvSpPr>
          <p:cNvPr id="7" name="Rounded Rectangle 6"/>
          <p:cNvSpPr/>
          <p:nvPr/>
        </p:nvSpPr>
        <p:spPr>
          <a:xfrm>
            <a:off x="640080" y="1143000"/>
            <a:ext cx="2651760" cy="832104"/>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188720"/>
            <a:ext cx="64008" cy="740664"/>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1280160"/>
            <a:ext cx="230428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C language</a:t>
            </a:r>
          </a:p>
        </p:txBody>
      </p:sp>
      <p:sp>
        <p:nvSpPr>
          <p:cNvPr id="10" name="TextBox 9"/>
          <p:cNvSpPr txBox="1"/>
          <p:nvPr/>
        </p:nvSpPr>
        <p:spPr>
          <a:xfrm>
            <a:off x="841247" y="1673352"/>
            <a:ext cx="2304288" cy="192024"/>
          </a:xfrm>
          <a:prstGeom prst="rect">
            <a:avLst/>
          </a:prstGeom>
          <a:noFill/>
        </p:spPr>
        <p:txBody>
          <a:bodyPr wrap="square" lIns="54864" rIns="54864" tIns="54864" bIns="54864" anchor="t">
            <a:spAutoFit/>
          </a:bodyPr>
          <a:lstStyle/>
          <a:p>
            <a:pPr algn="l">
              <a:spcAft>
                <a:spcPts val="0"/>
              </a:spcAft>
            </a:pPr>
            <a:r>
              <a:rPr sz="1200" b="0" i="0">
                <a:solidFill>
                  <a:srgbClr val="1C232D"/>
                </a:solidFill>
                <a:latin typeface="Aptos"/>
              </a:rPr>
              <a:t>Implements the demonstration.</a:t>
            </a:r>
          </a:p>
        </p:txBody>
      </p:sp>
      <p:sp>
        <p:nvSpPr>
          <p:cNvPr id="11" name="Rounded Rectangle 10"/>
          <p:cNvSpPr/>
          <p:nvPr/>
        </p:nvSpPr>
        <p:spPr>
          <a:xfrm>
            <a:off x="3566160" y="1143000"/>
            <a:ext cx="2651760" cy="832104"/>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66160" y="1188720"/>
            <a:ext cx="64008" cy="740664"/>
          </a:xfrm>
          <a:prstGeom prst="rect">
            <a:avLst/>
          </a:prstGeom>
          <a:solidFill>
            <a:srgbClr val="277D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67328" y="1280160"/>
            <a:ext cx="230428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GCC</a:t>
            </a:r>
          </a:p>
        </p:txBody>
      </p:sp>
      <p:sp>
        <p:nvSpPr>
          <p:cNvPr id="14" name="TextBox 13"/>
          <p:cNvSpPr txBox="1"/>
          <p:nvPr/>
        </p:nvSpPr>
        <p:spPr>
          <a:xfrm>
            <a:off x="3767328" y="1673352"/>
            <a:ext cx="2304288" cy="192024"/>
          </a:xfrm>
          <a:prstGeom prst="rect">
            <a:avLst/>
          </a:prstGeom>
          <a:noFill/>
        </p:spPr>
        <p:txBody>
          <a:bodyPr wrap="square" lIns="54864" rIns="54864" tIns="54864" bIns="54864" anchor="t">
            <a:spAutoFit/>
          </a:bodyPr>
          <a:lstStyle/>
          <a:p>
            <a:pPr algn="l">
              <a:spcAft>
                <a:spcPts val="0"/>
              </a:spcAft>
            </a:pPr>
            <a:r>
              <a:rPr sz="1200" b="0" i="0">
                <a:solidFill>
                  <a:srgbClr val="1C232D"/>
                </a:solidFill>
                <a:latin typeface="Aptos"/>
              </a:rPr>
              <a:t>Compiles the C source code.</a:t>
            </a:r>
          </a:p>
        </p:txBody>
      </p:sp>
      <p:sp>
        <p:nvSpPr>
          <p:cNvPr id="15" name="Rounded Rectangle 14"/>
          <p:cNvSpPr/>
          <p:nvPr/>
        </p:nvSpPr>
        <p:spPr>
          <a:xfrm>
            <a:off x="640080" y="2176272"/>
            <a:ext cx="2651760" cy="832104"/>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2221991"/>
            <a:ext cx="64008" cy="740664"/>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7" y="2313432"/>
            <a:ext cx="230428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Ubuntu 24.04 on WSL2</a:t>
            </a:r>
          </a:p>
        </p:txBody>
      </p:sp>
      <p:sp>
        <p:nvSpPr>
          <p:cNvPr id="18" name="TextBox 17"/>
          <p:cNvSpPr txBox="1"/>
          <p:nvPr/>
        </p:nvSpPr>
        <p:spPr>
          <a:xfrm>
            <a:off x="841247" y="2706624"/>
            <a:ext cx="2304288" cy="192024"/>
          </a:xfrm>
          <a:prstGeom prst="rect">
            <a:avLst/>
          </a:prstGeom>
          <a:noFill/>
        </p:spPr>
        <p:txBody>
          <a:bodyPr wrap="square" lIns="54864" rIns="54864" tIns="54864" bIns="54864" anchor="t">
            <a:spAutoFit/>
          </a:bodyPr>
          <a:lstStyle/>
          <a:p>
            <a:pPr algn="l">
              <a:spcAft>
                <a:spcPts val="0"/>
              </a:spcAft>
            </a:pPr>
            <a:r>
              <a:rPr sz="1200" b="0" i="0">
                <a:solidFill>
                  <a:srgbClr val="1C232D"/>
                </a:solidFill>
                <a:latin typeface="Aptos"/>
              </a:rPr>
              <a:t>Linux user-space environment on Windows.</a:t>
            </a:r>
          </a:p>
        </p:txBody>
      </p:sp>
      <p:sp>
        <p:nvSpPr>
          <p:cNvPr id="19" name="Rounded Rectangle 18"/>
          <p:cNvSpPr/>
          <p:nvPr/>
        </p:nvSpPr>
        <p:spPr>
          <a:xfrm>
            <a:off x="3566160" y="2176272"/>
            <a:ext cx="2651760" cy="832104"/>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566160" y="2221991"/>
            <a:ext cx="64008" cy="740664"/>
          </a:xfrm>
          <a:prstGeom prst="rect">
            <a:avLst/>
          </a:prstGeom>
          <a:solidFill>
            <a:srgbClr val="277D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67328" y="2313432"/>
            <a:ext cx="230428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mmap()</a:t>
            </a:r>
          </a:p>
        </p:txBody>
      </p:sp>
      <p:sp>
        <p:nvSpPr>
          <p:cNvPr id="22" name="TextBox 21"/>
          <p:cNvSpPr txBox="1"/>
          <p:nvPr/>
        </p:nvSpPr>
        <p:spPr>
          <a:xfrm>
            <a:off x="3767328" y="2706624"/>
            <a:ext cx="2304288" cy="192024"/>
          </a:xfrm>
          <a:prstGeom prst="rect">
            <a:avLst/>
          </a:prstGeom>
          <a:noFill/>
        </p:spPr>
        <p:txBody>
          <a:bodyPr wrap="square" lIns="54864" rIns="54864" tIns="54864" bIns="54864" anchor="t">
            <a:spAutoFit/>
          </a:bodyPr>
          <a:lstStyle/>
          <a:p>
            <a:pPr algn="l">
              <a:spcAft>
                <a:spcPts val="0"/>
              </a:spcAft>
            </a:pPr>
            <a:r>
              <a:rPr sz="1200" b="0" i="0">
                <a:solidFill>
                  <a:srgbClr val="1C232D"/>
                </a:solidFill>
                <a:latin typeface="Aptos"/>
              </a:rPr>
              <a:t>Creates the memory mapping.</a:t>
            </a:r>
          </a:p>
        </p:txBody>
      </p:sp>
      <p:sp>
        <p:nvSpPr>
          <p:cNvPr id="23" name="Rounded Rectangle 22"/>
          <p:cNvSpPr/>
          <p:nvPr/>
        </p:nvSpPr>
        <p:spPr>
          <a:xfrm>
            <a:off x="640080" y="3209544"/>
            <a:ext cx="2651760" cy="832104"/>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3255263"/>
            <a:ext cx="64008" cy="740664"/>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7" y="3346703"/>
            <a:ext cx="230428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fork()</a:t>
            </a:r>
          </a:p>
        </p:txBody>
      </p:sp>
      <p:sp>
        <p:nvSpPr>
          <p:cNvPr id="26" name="TextBox 25"/>
          <p:cNvSpPr txBox="1"/>
          <p:nvPr/>
        </p:nvSpPr>
        <p:spPr>
          <a:xfrm>
            <a:off x="841247" y="3739896"/>
            <a:ext cx="2304288" cy="192024"/>
          </a:xfrm>
          <a:prstGeom prst="rect">
            <a:avLst/>
          </a:prstGeom>
          <a:noFill/>
        </p:spPr>
        <p:txBody>
          <a:bodyPr wrap="square" lIns="54864" rIns="54864" tIns="54864" bIns="54864" anchor="t">
            <a:spAutoFit/>
          </a:bodyPr>
          <a:lstStyle/>
          <a:p>
            <a:pPr algn="l">
              <a:spcAft>
                <a:spcPts val="0"/>
              </a:spcAft>
            </a:pPr>
            <a:r>
              <a:rPr sz="1200" b="0" i="0">
                <a:solidFill>
                  <a:srgbClr val="1C232D"/>
                </a:solidFill>
                <a:latin typeface="Aptos"/>
              </a:rPr>
              <a:t>Creates a child process.</a:t>
            </a:r>
          </a:p>
        </p:txBody>
      </p:sp>
      <p:sp>
        <p:nvSpPr>
          <p:cNvPr id="27" name="Rounded Rectangle 26"/>
          <p:cNvSpPr/>
          <p:nvPr/>
        </p:nvSpPr>
        <p:spPr>
          <a:xfrm>
            <a:off x="3566160" y="3209544"/>
            <a:ext cx="2651760" cy="832104"/>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66160" y="3255263"/>
            <a:ext cx="64008" cy="740664"/>
          </a:xfrm>
          <a:prstGeom prst="rect">
            <a:avLst/>
          </a:prstGeom>
          <a:solidFill>
            <a:srgbClr val="277D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67328" y="3346703"/>
            <a:ext cx="230428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waitpid()</a:t>
            </a:r>
          </a:p>
        </p:txBody>
      </p:sp>
      <p:sp>
        <p:nvSpPr>
          <p:cNvPr id="30" name="TextBox 29"/>
          <p:cNvSpPr txBox="1"/>
          <p:nvPr/>
        </p:nvSpPr>
        <p:spPr>
          <a:xfrm>
            <a:off x="3767328" y="3739896"/>
            <a:ext cx="2304288" cy="192024"/>
          </a:xfrm>
          <a:prstGeom prst="rect">
            <a:avLst/>
          </a:prstGeom>
          <a:noFill/>
        </p:spPr>
        <p:txBody>
          <a:bodyPr wrap="square" lIns="54864" rIns="54864" tIns="54864" bIns="54864" anchor="t">
            <a:spAutoFit/>
          </a:bodyPr>
          <a:lstStyle/>
          <a:p>
            <a:pPr algn="l">
              <a:spcAft>
                <a:spcPts val="0"/>
              </a:spcAft>
            </a:pPr>
            <a:r>
              <a:rPr sz="1200" b="0" i="0">
                <a:solidFill>
                  <a:srgbClr val="1C232D"/>
                </a:solidFill>
                <a:latin typeface="Aptos"/>
              </a:rPr>
              <a:t>Waits for the child to finish.</a:t>
            </a:r>
          </a:p>
        </p:txBody>
      </p:sp>
      <p:sp>
        <p:nvSpPr>
          <p:cNvPr id="31" name="Rounded Rectangle 30"/>
          <p:cNvSpPr/>
          <p:nvPr/>
        </p:nvSpPr>
        <p:spPr>
          <a:xfrm>
            <a:off x="640080" y="4242816"/>
            <a:ext cx="2651760" cy="832104"/>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288536"/>
            <a:ext cx="64008" cy="740664"/>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7" y="4379976"/>
            <a:ext cx="230428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munmap()</a:t>
            </a:r>
          </a:p>
        </p:txBody>
      </p:sp>
      <p:sp>
        <p:nvSpPr>
          <p:cNvPr id="34" name="TextBox 33"/>
          <p:cNvSpPr txBox="1"/>
          <p:nvPr/>
        </p:nvSpPr>
        <p:spPr>
          <a:xfrm>
            <a:off x="841247" y="4773168"/>
            <a:ext cx="2304288" cy="192024"/>
          </a:xfrm>
          <a:prstGeom prst="rect">
            <a:avLst/>
          </a:prstGeom>
          <a:noFill/>
        </p:spPr>
        <p:txBody>
          <a:bodyPr wrap="square" lIns="54864" rIns="54864" tIns="54864" bIns="54864" anchor="t">
            <a:spAutoFit/>
          </a:bodyPr>
          <a:lstStyle/>
          <a:p>
            <a:pPr algn="l">
              <a:spcAft>
                <a:spcPts val="0"/>
              </a:spcAft>
            </a:pPr>
            <a:r>
              <a:rPr sz="1200" b="0" i="0">
                <a:solidFill>
                  <a:srgbClr val="1C232D"/>
                </a:solidFill>
                <a:latin typeface="Aptos"/>
              </a:rPr>
              <a:t>Releases the mapped region.</a:t>
            </a:r>
          </a:p>
        </p:txBody>
      </p:sp>
      <p:sp>
        <p:nvSpPr>
          <p:cNvPr id="35" name="TextBox 34"/>
          <p:cNvSpPr txBox="1"/>
          <p:nvPr/>
        </p:nvSpPr>
        <p:spPr>
          <a:xfrm>
            <a:off x="6720840" y="1143000"/>
            <a:ext cx="4754880" cy="292608"/>
          </a:xfrm>
          <a:prstGeom prst="rect">
            <a:avLst/>
          </a:prstGeom>
          <a:noFill/>
        </p:spPr>
        <p:txBody>
          <a:bodyPr wrap="square" lIns="54864" rIns="54864" tIns="54864" bIns="54864" anchor="t">
            <a:spAutoFit/>
          </a:bodyPr>
          <a:lstStyle/>
          <a:p>
            <a:pPr algn="l">
              <a:spcAft>
                <a:spcPts val="0"/>
              </a:spcAft>
            </a:pPr>
            <a:r>
              <a:rPr sz="1200" b="1" i="0">
                <a:solidFill>
                  <a:srgbClr val="275DA6"/>
                </a:solidFill>
                <a:latin typeface="Aptos"/>
              </a:rPr>
              <a:t>SIMPLIFIED CODE EXCERPT</a:t>
            </a:r>
          </a:p>
        </p:txBody>
      </p:sp>
      <p:sp>
        <p:nvSpPr>
          <p:cNvPr id="36" name="Rounded Rectangle 35"/>
          <p:cNvSpPr/>
          <p:nvPr/>
        </p:nvSpPr>
        <p:spPr>
          <a:xfrm>
            <a:off x="6675120" y="1536192"/>
            <a:ext cx="4892040" cy="3566160"/>
          </a:xfrm>
          <a:prstGeom prst="roundRect">
            <a:avLst/>
          </a:prstGeom>
          <a:solidFill>
            <a:srgbClr val="F5F7FA"/>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wrap="none" lIns="164592" rIns="109728" tIns="109728" bIns="73152"/>
          <a:lstStyle/>
          <a:p>
            <a:pPr algn="ctr">
              <a:spcAft>
                <a:spcPts val="0"/>
              </a:spcAft>
              <a:defRPr sz="1400">
                <a:solidFill>
                  <a:srgbClr val="1C232D"/>
                </a:solidFill>
                <a:latin typeface="Consolas"/>
              </a:defRPr>
            </a:pPr>
            <a:r>
              <a:t>*memory = 100;</a:t>
            </a:r>
          </a:p>
          <a:p>
            <a:pPr>
              <a:spcAft>
                <a:spcPts val="0"/>
              </a:spcAft>
              <a:defRPr sz="1400">
                <a:solidFill>
                  <a:srgbClr val="1C232D"/>
                </a:solidFill>
                <a:latin typeface="Consolas"/>
              </a:defRPr>
            </a:pPr>
          </a:p>
          <a:p>
            <a:pPr>
              <a:spcAft>
                <a:spcPts val="0"/>
              </a:spcAft>
              <a:defRPr sz="1400">
                <a:solidFill>
                  <a:srgbClr val="1C232D"/>
                </a:solidFill>
                <a:latin typeface="Consolas"/>
              </a:defRPr>
            </a:pPr>
            <a:r>
              <a:t>pid_t pid = fork();</a:t>
            </a:r>
          </a:p>
          <a:p>
            <a:pPr>
              <a:spcAft>
                <a:spcPts val="0"/>
              </a:spcAft>
              <a:defRPr sz="1400">
                <a:solidFill>
                  <a:srgbClr val="1C232D"/>
                </a:solidFill>
                <a:latin typeface="Consolas"/>
              </a:defRPr>
            </a:pPr>
          </a:p>
          <a:p>
            <a:pPr>
              <a:spcAft>
                <a:spcPts val="0"/>
              </a:spcAft>
              <a:defRPr sz="1400">
                <a:solidFill>
                  <a:srgbClr val="1C232D"/>
                </a:solidFill>
                <a:latin typeface="Consolas"/>
              </a:defRPr>
            </a:pPr>
            <a:r>
              <a:t>if (pid == 0) {</a:t>
            </a:r>
          </a:p>
          <a:p>
            <a:pPr>
              <a:spcAft>
                <a:spcPts val="0"/>
              </a:spcAft>
              <a:defRPr sz="1400">
                <a:solidFill>
                  <a:srgbClr val="1C232D"/>
                </a:solidFill>
                <a:latin typeface="Consolas"/>
              </a:defRPr>
            </a:pPr>
            <a:r>
              <a:t>    *memory = 200;</a:t>
            </a:r>
          </a:p>
          <a:p>
            <a:pPr>
              <a:spcAft>
                <a:spcPts val="0"/>
              </a:spcAft>
              <a:defRPr sz="1400">
                <a:solidFill>
                  <a:srgbClr val="1C232D"/>
                </a:solidFill>
                <a:latin typeface="Consolas"/>
              </a:defRPr>
            </a:pPr>
            <a:r>
              <a:t>    printf("Child: %d\n", *memory);</a:t>
            </a:r>
          </a:p>
          <a:p>
            <a:pPr>
              <a:spcAft>
                <a:spcPts val="0"/>
              </a:spcAft>
              <a:defRPr sz="1400">
                <a:solidFill>
                  <a:srgbClr val="1C232D"/>
                </a:solidFill>
                <a:latin typeface="Consolas"/>
              </a:defRPr>
            </a:pPr>
            <a:r>
              <a:t>} else {</a:t>
            </a:r>
          </a:p>
          <a:p>
            <a:pPr>
              <a:spcAft>
                <a:spcPts val="0"/>
              </a:spcAft>
              <a:defRPr sz="1400">
                <a:solidFill>
                  <a:srgbClr val="1C232D"/>
                </a:solidFill>
                <a:latin typeface="Consolas"/>
              </a:defRPr>
            </a:pPr>
            <a:r>
              <a:t>    waitpid(pid, NULL, 0);</a:t>
            </a:r>
          </a:p>
          <a:p>
            <a:pPr>
              <a:spcAft>
                <a:spcPts val="0"/>
              </a:spcAft>
              <a:defRPr sz="1400">
                <a:solidFill>
                  <a:srgbClr val="1C232D"/>
                </a:solidFill>
                <a:latin typeface="Consolas"/>
              </a:defRPr>
            </a:pPr>
            <a:r>
              <a:t>    printf("Parent: %d\n", *memory);</a:t>
            </a:r>
          </a:p>
          <a:p>
            <a:pPr>
              <a:spcAft>
                <a:spcPts val="0"/>
              </a:spcAft>
              <a:defRPr sz="1400">
                <a:solidFill>
                  <a:srgbClr val="1C232D"/>
                </a:solidFill>
                <a:latin typeface="Consolas"/>
              </a:defRPr>
            </a:pPr>
            <a:r>
              <a:t>}</a:t>
            </a:r>
          </a:p>
        </p:txBody>
      </p:sp>
      <p:sp>
        <p:nvSpPr>
          <p:cNvPr id="37" name="TextBox 36"/>
          <p:cNvSpPr txBox="1"/>
          <p:nvPr/>
        </p:nvSpPr>
        <p:spPr>
          <a:xfrm>
            <a:off x="6766560" y="5257800"/>
            <a:ext cx="4663440" cy="548640"/>
          </a:xfrm>
          <a:prstGeom prst="rect">
            <a:avLst/>
          </a:prstGeom>
          <a:noFill/>
        </p:spPr>
        <p:txBody>
          <a:bodyPr wrap="square" lIns="54864" rIns="54864" tIns="54864" bIns="54864" anchor="t">
            <a:spAutoFit/>
          </a:bodyPr>
          <a:lstStyle/>
          <a:p>
            <a:pPr algn="l">
              <a:spcAft>
                <a:spcPts val="0"/>
              </a:spcAft>
            </a:pPr>
            <a:r>
              <a:rPr sz="1200" b="0" i="1">
                <a:solidFill>
                  <a:srgbClr val="556273"/>
                </a:solidFill>
                <a:latin typeface="Aptos"/>
              </a:rPr>
              <a:t>Excerpt only — error handling and cleanup are omitted 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475488"/>
          </a:xfrm>
          <a:prstGeom prst="rect">
            <a:avLst/>
          </a:prstGeom>
          <a:noFill/>
        </p:spPr>
        <p:txBody>
          <a:bodyPr wrap="square" lIns="54864" rIns="54864" tIns="54864" bIns="54864" anchor="t">
            <a:spAutoFit/>
          </a:bodyPr>
          <a:lstStyle/>
          <a:p>
            <a:pPr algn="l">
              <a:spcAft>
                <a:spcPts val="0"/>
              </a:spcAft>
            </a:pPr>
            <a:r>
              <a:rPr sz="2800" b="1" i="0">
                <a:solidFill>
                  <a:srgbClr val="142A4F"/>
                </a:solidFill>
                <a:latin typeface="Aptos"/>
              </a:rPr>
              <a:t>Compilation and Live Demonstration</a:t>
            </a:r>
          </a:p>
        </p:txBody>
      </p:sp>
      <p:sp>
        <p:nvSpPr>
          <p:cNvPr id="3" name="Rectangle 2"/>
          <p:cNvSpPr/>
          <p:nvPr/>
        </p:nvSpPr>
        <p:spPr>
          <a:xfrm>
            <a:off x="594360" y="832104"/>
            <a:ext cx="914400" cy="50292"/>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27632" y="731520"/>
            <a:ext cx="9966960" cy="274320"/>
          </a:xfrm>
          <a:prstGeom prst="rect">
            <a:avLst/>
          </a:prstGeom>
          <a:noFill/>
        </p:spPr>
        <p:txBody>
          <a:bodyPr wrap="square" lIns="54864" rIns="54864" tIns="54864" bIns="54864" anchor="t">
            <a:spAutoFit/>
          </a:bodyPr>
          <a:lstStyle/>
          <a:p>
            <a:pPr algn="l">
              <a:spcAft>
                <a:spcPts val="0"/>
              </a:spcAft>
            </a:pPr>
            <a:r>
              <a:rPr sz="1100" b="0" i="0">
                <a:solidFill>
                  <a:srgbClr val="556273"/>
                </a:solidFill>
                <a:latin typeface="Aptos"/>
              </a:rPr>
              <a:t>Commands and observed output from WSL</a:t>
            </a:r>
          </a:p>
        </p:txBody>
      </p:sp>
      <p:sp>
        <p:nvSpPr>
          <p:cNvPr id="5" name="TextBox 4"/>
          <p:cNvSpPr txBox="1"/>
          <p:nvPr/>
        </p:nvSpPr>
        <p:spPr>
          <a:xfrm>
            <a:off x="594360" y="6510528"/>
            <a:ext cx="9875520" cy="164592"/>
          </a:xfrm>
          <a:prstGeom prst="rect">
            <a:avLst/>
          </a:prstGeom>
          <a:noFill/>
        </p:spPr>
        <p:txBody>
          <a:bodyPr wrap="square" lIns="54864" rIns="54864" tIns="54864" bIns="54864" anchor="t">
            <a:spAutoFit/>
          </a:bodyPr>
          <a:lstStyle/>
          <a:p>
            <a:pPr algn="l">
              <a:spcAft>
                <a:spcPts val="0"/>
              </a:spcAft>
            </a:pPr>
            <a:r>
              <a:rPr sz="800" b="1" i="0">
                <a:solidFill>
                  <a:srgbClr val="556273"/>
                </a:solidFill>
                <a:latin typeface="Aptos"/>
              </a:rPr>
              <a:t>COPY-ON-WRITE MEMORY DEMONSTRATOR  •  OPERATING SYSTEMS</a:t>
            </a:r>
          </a:p>
        </p:txBody>
      </p:sp>
      <p:sp>
        <p:nvSpPr>
          <p:cNvPr id="6" name="TextBox 5"/>
          <p:cNvSpPr txBox="1"/>
          <p:nvPr/>
        </p:nvSpPr>
        <p:spPr>
          <a:xfrm>
            <a:off x="11064240" y="6473952"/>
            <a:ext cx="502920" cy="201168"/>
          </a:xfrm>
          <a:prstGeom prst="rect">
            <a:avLst/>
          </a:prstGeom>
          <a:noFill/>
        </p:spPr>
        <p:txBody>
          <a:bodyPr wrap="square" lIns="54864" rIns="54864" tIns="54864" bIns="54864" anchor="t">
            <a:spAutoFit/>
          </a:bodyPr>
          <a:lstStyle/>
          <a:p>
            <a:pPr algn="r">
              <a:spcAft>
                <a:spcPts val="0"/>
              </a:spcAft>
            </a:pPr>
            <a:r>
              <a:rPr sz="900" b="1" i="0">
                <a:solidFill>
                  <a:srgbClr val="556273"/>
                </a:solidFill>
                <a:latin typeface="Aptos"/>
              </a:rPr>
              <a:t>07 / 10</a:t>
            </a:r>
          </a:p>
        </p:txBody>
      </p:sp>
      <p:sp>
        <p:nvSpPr>
          <p:cNvPr id="7" name="TextBox 6"/>
          <p:cNvSpPr txBox="1"/>
          <p:nvPr/>
        </p:nvSpPr>
        <p:spPr>
          <a:xfrm>
            <a:off x="731520" y="1115568"/>
            <a:ext cx="4663440" cy="256032"/>
          </a:xfrm>
          <a:prstGeom prst="rect">
            <a:avLst/>
          </a:prstGeom>
          <a:noFill/>
        </p:spPr>
        <p:txBody>
          <a:bodyPr wrap="square" lIns="54864" rIns="54864" tIns="54864" bIns="54864" anchor="t">
            <a:spAutoFit/>
          </a:bodyPr>
          <a:lstStyle/>
          <a:p>
            <a:pPr algn="l">
              <a:spcAft>
                <a:spcPts val="0"/>
              </a:spcAft>
            </a:pPr>
            <a:r>
              <a:rPr sz="1200" b="1" i="0">
                <a:solidFill>
                  <a:srgbClr val="275DA6"/>
                </a:solidFill>
                <a:latin typeface="Aptos"/>
              </a:rPr>
              <a:t>BUILD AND RUN</a:t>
            </a:r>
          </a:p>
        </p:txBody>
      </p:sp>
      <p:sp>
        <p:nvSpPr>
          <p:cNvPr id="8" name="Rounded Rectangle 7"/>
          <p:cNvSpPr/>
          <p:nvPr/>
        </p:nvSpPr>
        <p:spPr>
          <a:xfrm>
            <a:off x="685800" y="1463040"/>
            <a:ext cx="5074920" cy="1508760"/>
          </a:xfrm>
          <a:prstGeom prst="roundRect">
            <a:avLst/>
          </a:prstGeom>
          <a:solidFill>
            <a:srgbClr val="F5F7FA"/>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wrap="none" lIns="164592" rIns="109728" tIns="109728" bIns="73152"/>
          <a:lstStyle/>
          <a:p>
            <a:pPr algn="ctr">
              <a:spcAft>
                <a:spcPts val="0"/>
              </a:spcAft>
              <a:defRPr sz="1500">
                <a:solidFill>
                  <a:srgbClr val="1C232D"/>
                </a:solidFill>
                <a:latin typeface="Consolas"/>
              </a:defRPr>
            </a:pPr>
            <a:r>
              <a:t>cd ~/cow-memory-demo</a:t>
            </a:r>
          </a:p>
          <a:p>
            <a:pPr>
              <a:spcAft>
                <a:spcPts val="0"/>
              </a:spcAft>
              <a:defRPr sz="1500">
                <a:solidFill>
                  <a:srgbClr val="1C232D"/>
                </a:solidFill>
                <a:latin typeface="Consolas"/>
              </a:defRPr>
            </a:pPr>
            <a:r>
              <a:t>gcc -Wall -Wextra cow_demo.c -o cow_demo</a:t>
            </a:r>
          </a:p>
          <a:p>
            <a:pPr>
              <a:spcAft>
                <a:spcPts val="0"/>
              </a:spcAft>
              <a:defRPr sz="1500">
                <a:solidFill>
                  <a:srgbClr val="1C232D"/>
                </a:solidFill>
                <a:latin typeface="Consolas"/>
              </a:defRPr>
            </a:pPr>
            <a:r>
              <a:t>./cow_demo</a:t>
            </a:r>
          </a:p>
        </p:txBody>
      </p:sp>
      <p:sp>
        <p:nvSpPr>
          <p:cNvPr id="9" name="TextBox 8"/>
          <p:cNvSpPr txBox="1"/>
          <p:nvPr/>
        </p:nvSpPr>
        <p:spPr>
          <a:xfrm>
            <a:off x="731520" y="3218688"/>
            <a:ext cx="4663440" cy="256032"/>
          </a:xfrm>
          <a:prstGeom prst="rect">
            <a:avLst/>
          </a:prstGeom>
          <a:noFill/>
        </p:spPr>
        <p:txBody>
          <a:bodyPr wrap="square" lIns="54864" rIns="54864" tIns="54864" bIns="54864" anchor="t">
            <a:spAutoFit/>
          </a:bodyPr>
          <a:lstStyle/>
          <a:p>
            <a:pPr algn="l">
              <a:spcAft>
                <a:spcPts val="0"/>
              </a:spcAft>
            </a:pPr>
            <a:r>
              <a:rPr sz="1200" b="1" i="0">
                <a:solidFill>
                  <a:srgbClr val="275DA6"/>
                </a:solidFill>
                <a:latin typeface="Aptos"/>
              </a:rPr>
              <a:t>OBSERVED OUTPUT</a:t>
            </a:r>
          </a:p>
        </p:txBody>
      </p:sp>
      <p:sp>
        <p:nvSpPr>
          <p:cNvPr id="10" name="Rounded Rectangle 9"/>
          <p:cNvSpPr/>
          <p:nvPr/>
        </p:nvSpPr>
        <p:spPr>
          <a:xfrm>
            <a:off x="685800" y="3547872"/>
            <a:ext cx="5074920" cy="1828800"/>
          </a:xfrm>
          <a:prstGeom prst="roundRect">
            <a:avLst/>
          </a:prstGeom>
          <a:solidFill>
            <a:srgbClr val="F5F7FA"/>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wrap="none" lIns="164592" rIns="109728" tIns="109728" bIns="73152"/>
          <a:lstStyle/>
          <a:p>
            <a:pPr algn="ctr">
              <a:spcAft>
                <a:spcPts val="0"/>
              </a:spcAft>
              <a:defRPr sz="1500">
                <a:solidFill>
                  <a:srgbClr val="1C232D"/>
                </a:solidFill>
                <a:latin typeface="Consolas"/>
              </a:defRPr>
            </a:pPr>
            <a:r>
              <a:t>Initial value: 100</a:t>
            </a:r>
          </a:p>
          <a:p>
            <a:pPr>
              <a:spcAft>
                <a:spcPts val="0"/>
              </a:spcAft>
              <a:defRPr sz="1500">
                <a:solidFill>
                  <a:srgbClr val="1C232D"/>
                </a:solidFill>
                <a:latin typeface="Consolas"/>
              </a:defRPr>
            </a:pPr>
            <a:r>
              <a:t>Child before write: 100</a:t>
            </a:r>
          </a:p>
          <a:p>
            <a:pPr>
              <a:spcAft>
                <a:spcPts val="0"/>
              </a:spcAft>
              <a:defRPr sz="1500">
                <a:solidFill>
                  <a:srgbClr val="1C232D"/>
                </a:solidFill>
                <a:latin typeface="Consolas"/>
              </a:defRPr>
            </a:pPr>
            <a:r>
              <a:t>Child after write: 200</a:t>
            </a:r>
          </a:p>
          <a:p>
            <a:pPr>
              <a:spcAft>
                <a:spcPts val="0"/>
              </a:spcAft>
              <a:defRPr sz="1500">
                <a:solidFill>
                  <a:srgbClr val="1C232D"/>
                </a:solidFill>
                <a:latin typeface="Consolas"/>
              </a:defRPr>
            </a:pPr>
            <a:r>
              <a:t>Parent after child write: 100</a:t>
            </a:r>
          </a:p>
        </p:txBody>
      </p:sp>
      <p:sp>
        <p:nvSpPr>
          <p:cNvPr id="11" name="Rounded Rectangle 10"/>
          <p:cNvSpPr/>
          <p:nvPr/>
        </p:nvSpPr>
        <p:spPr>
          <a:xfrm>
            <a:off x="6172200" y="1325880"/>
            <a:ext cx="5166360" cy="932688"/>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371600"/>
            <a:ext cx="64008" cy="841248"/>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463039"/>
            <a:ext cx="481888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Initial value: 100</a:t>
            </a:r>
          </a:p>
        </p:txBody>
      </p:sp>
      <p:sp>
        <p:nvSpPr>
          <p:cNvPr id="14" name="TextBox 13"/>
          <p:cNvSpPr txBox="1"/>
          <p:nvPr/>
        </p:nvSpPr>
        <p:spPr>
          <a:xfrm>
            <a:off x="6373368" y="1856231"/>
            <a:ext cx="4818888" cy="292608"/>
          </a:xfrm>
          <a:prstGeom prst="rect">
            <a:avLst/>
          </a:prstGeom>
          <a:noFill/>
        </p:spPr>
        <p:txBody>
          <a:bodyPr wrap="square" lIns="54864" rIns="54864" tIns="54864" bIns="54864" anchor="t">
            <a:spAutoFit/>
          </a:bodyPr>
          <a:lstStyle/>
          <a:p>
            <a:pPr algn="l">
              <a:spcAft>
                <a:spcPts val="0"/>
              </a:spcAft>
            </a:pPr>
            <a:r>
              <a:rPr sz="1300" b="0" i="0">
                <a:solidFill>
                  <a:srgbClr val="1C232D"/>
                </a:solidFill>
                <a:latin typeface="Aptos"/>
              </a:rPr>
              <a:t>The mapping is initialized before fork().</a:t>
            </a:r>
          </a:p>
        </p:txBody>
      </p:sp>
      <p:sp>
        <p:nvSpPr>
          <p:cNvPr id="15" name="Rounded Rectangle 14"/>
          <p:cNvSpPr/>
          <p:nvPr/>
        </p:nvSpPr>
        <p:spPr>
          <a:xfrm>
            <a:off x="6172200" y="2468880"/>
            <a:ext cx="5166360" cy="932688"/>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2514600"/>
            <a:ext cx="64008" cy="841248"/>
          </a:xfrm>
          <a:prstGeom prst="rect">
            <a:avLst/>
          </a:prstGeom>
          <a:solidFill>
            <a:srgbClr val="C27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2606040"/>
            <a:ext cx="481888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Child: 100 → 200</a:t>
            </a:r>
          </a:p>
        </p:txBody>
      </p:sp>
      <p:sp>
        <p:nvSpPr>
          <p:cNvPr id="18" name="TextBox 17"/>
          <p:cNvSpPr txBox="1"/>
          <p:nvPr/>
        </p:nvSpPr>
        <p:spPr>
          <a:xfrm>
            <a:off x="6373368" y="2999232"/>
            <a:ext cx="4818888" cy="292608"/>
          </a:xfrm>
          <a:prstGeom prst="rect">
            <a:avLst/>
          </a:prstGeom>
          <a:noFill/>
        </p:spPr>
        <p:txBody>
          <a:bodyPr wrap="square" lIns="54864" rIns="54864" tIns="54864" bIns="54864" anchor="t">
            <a:spAutoFit/>
          </a:bodyPr>
          <a:lstStyle/>
          <a:p>
            <a:pPr algn="l">
              <a:spcAft>
                <a:spcPts val="0"/>
              </a:spcAft>
            </a:pPr>
            <a:r>
              <a:rPr sz="1300" b="0" i="0">
                <a:solidFill>
                  <a:srgbClr val="1C232D"/>
                </a:solidFill>
                <a:latin typeface="Aptos"/>
              </a:rPr>
              <a:t>The child sees the original value, then its write changes the child-visible value.</a:t>
            </a:r>
          </a:p>
        </p:txBody>
      </p:sp>
      <p:sp>
        <p:nvSpPr>
          <p:cNvPr id="19" name="Rounded Rectangle 18"/>
          <p:cNvSpPr/>
          <p:nvPr/>
        </p:nvSpPr>
        <p:spPr>
          <a:xfrm>
            <a:off x="6172200" y="3611880"/>
            <a:ext cx="5166360" cy="932688"/>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3657600"/>
            <a:ext cx="64008" cy="841248"/>
          </a:xfrm>
          <a:prstGeom prst="rect">
            <a:avLst/>
          </a:prstGeom>
          <a:solidFill>
            <a:srgbClr val="277D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3368" y="3749040"/>
            <a:ext cx="481888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Parent remains 100</a:t>
            </a:r>
          </a:p>
        </p:txBody>
      </p:sp>
      <p:sp>
        <p:nvSpPr>
          <p:cNvPr id="22" name="TextBox 21"/>
          <p:cNvSpPr txBox="1"/>
          <p:nvPr/>
        </p:nvSpPr>
        <p:spPr>
          <a:xfrm>
            <a:off x="6373368" y="4142232"/>
            <a:ext cx="4818888" cy="292608"/>
          </a:xfrm>
          <a:prstGeom prst="rect">
            <a:avLst/>
          </a:prstGeom>
          <a:noFill/>
        </p:spPr>
        <p:txBody>
          <a:bodyPr wrap="square" lIns="54864" rIns="54864" tIns="54864" bIns="54864" anchor="t">
            <a:spAutoFit/>
          </a:bodyPr>
          <a:lstStyle/>
          <a:p>
            <a:pPr algn="l">
              <a:spcAft>
                <a:spcPts val="0"/>
              </a:spcAft>
            </a:pPr>
            <a:r>
              <a:rPr sz="1300" b="0" i="0">
                <a:solidFill>
                  <a:srgbClr val="1C232D"/>
                </a:solidFill>
                <a:latin typeface="Aptos"/>
              </a:rPr>
              <a:t>The parent's value is unchanged after the child exits.</a:t>
            </a:r>
          </a:p>
        </p:txBody>
      </p:sp>
      <p:sp>
        <p:nvSpPr>
          <p:cNvPr id="23" name="Rounded Rectangle 22"/>
          <p:cNvSpPr/>
          <p:nvPr/>
        </p:nvSpPr>
        <p:spPr>
          <a:xfrm>
            <a:off x="6172200" y="4800600"/>
            <a:ext cx="5166360" cy="777240"/>
          </a:xfrm>
          <a:prstGeom prst="roundRect">
            <a:avLst/>
          </a:prstGeom>
          <a:solidFill>
            <a:srgbClr val="EBF2FA"/>
          </a:solidFill>
          <a:ln w="12700">
            <a:solidFill>
              <a:srgbClr val="EBF2FA"/>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lstStyle/>
          <a:p>
            <a:pPr algn="ctr">
              <a:spcAft>
                <a:spcPts val="500"/>
              </a:spcAft>
              <a:defRPr sz="1300" b="1">
                <a:solidFill>
                  <a:srgbClr val="142A4F"/>
                </a:solidFill>
                <a:latin typeface="Aptos"/>
              </a:defRPr>
            </a:pPr>
            <a:r>
              <a:t>Screenshot placeholder</a:t>
            </a:r>
          </a:p>
          <a:p>
            <a:pPr>
              <a:spcAft>
                <a:spcPts val="500"/>
              </a:spcAft>
              <a:defRPr sz="1100" b="0">
                <a:solidFill>
                  <a:srgbClr val="556273"/>
                </a:solidFill>
                <a:latin typeface="Aptos"/>
              </a:defRPr>
            </a:pPr>
            <a:r>
              <a:t>Insert your actual successful WSL terminal screenshot here before submission.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475488"/>
          </a:xfrm>
          <a:prstGeom prst="rect">
            <a:avLst/>
          </a:prstGeom>
          <a:noFill/>
        </p:spPr>
        <p:txBody>
          <a:bodyPr wrap="square" lIns="54864" rIns="54864" tIns="54864" bIns="54864" anchor="t">
            <a:spAutoFit/>
          </a:bodyPr>
          <a:lstStyle/>
          <a:p>
            <a:pPr algn="l">
              <a:spcAft>
                <a:spcPts val="0"/>
              </a:spcAft>
            </a:pPr>
            <a:r>
              <a:rPr sz="2800" b="1" i="0">
                <a:solidFill>
                  <a:srgbClr val="142A4F"/>
                </a:solidFill>
                <a:latin typeface="Aptos"/>
              </a:rPr>
              <a:t>Testing and Validation</a:t>
            </a:r>
          </a:p>
        </p:txBody>
      </p:sp>
      <p:sp>
        <p:nvSpPr>
          <p:cNvPr id="3" name="Rectangle 2"/>
          <p:cNvSpPr/>
          <p:nvPr/>
        </p:nvSpPr>
        <p:spPr>
          <a:xfrm>
            <a:off x="594360" y="832104"/>
            <a:ext cx="914400" cy="50292"/>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27632" y="731520"/>
            <a:ext cx="9966960" cy="274320"/>
          </a:xfrm>
          <a:prstGeom prst="rect">
            <a:avLst/>
          </a:prstGeom>
          <a:noFill/>
        </p:spPr>
        <p:txBody>
          <a:bodyPr wrap="square" lIns="54864" rIns="54864" tIns="54864" bIns="54864" anchor="t">
            <a:spAutoFit/>
          </a:bodyPr>
          <a:lstStyle/>
          <a:p>
            <a:pPr algn="l">
              <a:spcAft>
                <a:spcPts val="0"/>
              </a:spcAft>
            </a:pPr>
            <a:r>
              <a:rPr sz="1100" b="0" i="0">
                <a:solidFill>
                  <a:srgbClr val="556273"/>
                </a:solidFill>
                <a:latin typeface="Aptos"/>
              </a:rPr>
              <a:t>Observed results matched expected values</a:t>
            </a:r>
          </a:p>
        </p:txBody>
      </p:sp>
      <p:sp>
        <p:nvSpPr>
          <p:cNvPr id="5" name="TextBox 4"/>
          <p:cNvSpPr txBox="1"/>
          <p:nvPr/>
        </p:nvSpPr>
        <p:spPr>
          <a:xfrm>
            <a:off x="594360" y="6510528"/>
            <a:ext cx="9875520" cy="164592"/>
          </a:xfrm>
          <a:prstGeom prst="rect">
            <a:avLst/>
          </a:prstGeom>
          <a:noFill/>
        </p:spPr>
        <p:txBody>
          <a:bodyPr wrap="square" lIns="54864" rIns="54864" tIns="54864" bIns="54864" anchor="t">
            <a:spAutoFit/>
          </a:bodyPr>
          <a:lstStyle/>
          <a:p>
            <a:pPr algn="l">
              <a:spcAft>
                <a:spcPts val="0"/>
              </a:spcAft>
            </a:pPr>
            <a:r>
              <a:rPr sz="800" b="1" i="0">
                <a:solidFill>
                  <a:srgbClr val="556273"/>
                </a:solidFill>
                <a:latin typeface="Aptos"/>
              </a:rPr>
              <a:t>COPY-ON-WRITE MEMORY DEMONSTRATOR  •  OPERATING SYSTEMS</a:t>
            </a:r>
          </a:p>
        </p:txBody>
      </p:sp>
      <p:sp>
        <p:nvSpPr>
          <p:cNvPr id="6" name="TextBox 5"/>
          <p:cNvSpPr txBox="1"/>
          <p:nvPr/>
        </p:nvSpPr>
        <p:spPr>
          <a:xfrm>
            <a:off x="11064240" y="6473952"/>
            <a:ext cx="502920" cy="201168"/>
          </a:xfrm>
          <a:prstGeom prst="rect">
            <a:avLst/>
          </a:prstGeom>
          <a:noFill/>
        </p:spPr>
        <p:txBody>
          <a:bodyPr wrap="square" lIns="54864" rIns="54864" tIns="54864" bIns="54864" anchor="t">
            <a:spAutoFit/>
          </a:bodyPr>
          <a:lstStyle/>
          <a:p>
            <a:pPr algn="r">
              <a:spcAft>
                <a:spcPts val="0"/>
              </a:spcAft>
            </a:pPr>
            <a:r>
              <a:rPr sz="900" b="1" i="0">
                <a:solidFill>
                  <a:srgbClr val="556273"/>
                </a:solidFill>
                <a:latin typeface="Aptos"/>
              </a:rPr>
              <a:t>08 / 10</a:t>
            </a:r>
          </a:p>
        </p:txBody>
      </p:sp>
      <p:graphicFrame>
        <p:nvGraphicFramePr>
          <p:cNvPr id="7" name="Table 6"/>
          <p:cNvGraphicFramePr>
            <a:graphicFrameLocks noGrp="1"/>
          </p:cNvGraphicFramePr>
          <p:nvPr/>
        </p:nvGraphicFramePr>
        <p:xfrm>
          <a:off x="777240" y="1417320"/>
          <a:ext cx="10652760" cy="3337560"/>
        </p:xfrm>
        <a:graphic>
          <a:graphicData uri="http://schemas.openxmlformats.org/drawingml/2006/table">
            <a:tbl>
              <a:tblPr firstRow="1" bandRow="1">
                <a:tableStyleId>{5C22544A-7EE6-4342-B048-85BDC9FD1C3A}</a:tableStyleId>
              </a:tblPr>
              <a:tblGrid>
                <a:gridCol w="4937760"/>
                <a:gridCol w="2743200"/>
                <a:gridCol w="2971800"/>
              </a:tblGrid>
              <a:tr h="667512">
                <a:tc>
                  <a:txBody>
                    <a:bodyPr/>
                    <a:lstStyle/>
                    <a:p>
                      <a:pPr algn="l">
                        <a:spcAft>
                          <a:spcPts val="0"/>
                        </a:spcAft>
                        <a:defRPr sz="1500" b="1">
                          <a:solidFill>
                            <a:srgbClr val="FFFFFF"/>
                          </a:solidFill>
                          <a:latin typeface="Aptos"/>
                        </a:defRPr>
                      </a:pPr>
                      <a:r>
                        <a:t>Test Case</a:t>
                      </a:r>
                    </a:p>
                  </a:txBody>
                  <a:tcPr marL="146304" marR="109728" marT="73152" marB="73152">
                    <a:solidFill>
                      <a:srgbClr val="142A4F"/>
                    </a:solidFill>
                  </a:tcPr>
                </a:tc>
                <a:tc>
                  <a:txBody>
                    <a:bodyPr/>
                    <a:lstStyle/>
                    <a:p>
                      <a:pPr algn="ctr">
                        <a:spcAft>
                          <a:spcPts val="0"/>
                        </a:spcAft>
                        <a:defRPr sz="1500" b="1">
                          <a:solidFill>
                            <a:srgbClr val="FFFFFF"/>
                          </a:solidFill>
                          <a:latin typeface="Aptos"/>
                        </a:defRPr>
                      </a:pPr>
                      <a:r>
                        <a:t>Expected Result</a:t>
                      </a:r>
                    </a:p>
                  </a:txBody>
                  <a:tcPr marL="146304" marR="109728" marT="73152" marB="73152">
                    <a:solidFill>
                      <a:srgbClr val="142A4F"/>
                    </a:solidFill>
                  </a:tcPr>
                </a:tc>
                <a:tc>
                  <a:txBody>
                    <a:bodyPr/>
                    <a:lstStyle/>
                    <a:p>
                      <a:pPr algn="ctr">
                        <a:spcAft>
                          <a:spcPts val="0"/>
                        </a:spcAft>
                        <a:defRPr sz="1500" b="1">
                          <a:solidFill>
                            <a:srgbClr val="FFFFFF"/>
                          </a:solidFill>
                          <a:latin typeface="Aptos"/>
                        </a:defRPr>
                      </a:pPr>
                      <a:r>
                        <a:t>Status</a:t>
                      </a:r>
                    </a:p>
                  </a:txBody>
                  <a:tcPr marL="146304" marR="109728" marT="73152" marB="73152">
                    <a:solidFill>
                      <a:srgbClr val="142A4F"/>
                    </a:solidFill>
                  </a:tcPr>
                </a:tc>
              </a:tr>
              <a:tr h="667512">
                <a:tc>
                  <a:txBody>
                    <a:bodyPr/>
                    <a:lstStyle/>
                    <a:p>
                      <a:pPr algn="l">
                        <a:spcAft>
                          <a:spcPts val="0"/>
                        </a:spcAft>
                        <a:defRPr sz="1400" b="0">
                          <a:solidFill>
                            <a:srgbClr val="1C232D"/>
                          </a:solidFill>
                          <a:latin typeface="Aptos"/>
                        </a:defRPr>
                      </a:pPr>
                      <a:r>
                        <a:t>Initial memory</a:t>
                      </a:r>
                    </a:p>
                  </a:txBody>
                  <a:tcPr marL="146304" marR="109728" marT="73152" marB="73152">
                    <a:solidFill>
                      <a:srgbClr val="FFFFFF"/>
                    </a:solidFill>
                  </a:tcPr>
                </a:tc>
                <a:tc>
                  <a:txBody>
                    <a:bodyPr/>
                    <a:lstStyle/>
                    <a:p>
                      <a:pPr algn="ctr">
                        <a:spcAft>
                          <a:spcPts val="0"/>
                        </a:spcAft>
                        <a:defRPr sz="1400" b="0">
                          <a:solidFill>
                            <a:srgbClr val="1C232D"/>
                          </a:solidFill>
                          <a:latin typeface="Aptos"/>
                        </a:defRPr>
                      </a:pPr>
                      <a:r>
                        <a:t>100</a:t>
                      </a:r>
                    </a:p>
                  </a:txBody>
                  <a:tcPr marL="146304" marR="109728" marT="73152" marB="73152">
                    <a:solidFill>
                      <a:srgbClr val="FFFFFF"/>
                    </a:solidFill>
                  </a:tcPr>
                </a:tc>
                <a:tc>
                  <a:txBody>
                    <a:bodyPr/>
                    <a:lstStyle/>
                    <a:p>
                      <a:pPr algn="ctr">
                        <a:spcAft>
                          <a:spcPts val="0"/>
                        </a:spcAft>
                        <a:defRPr sz="1400" b="1">
                          <a:solidFill>
                            <a:srgbClr val="277D57"/>
                          </a:solidFill>
                          <a:latin typeface="Aptos"/>
                        </a:defRPr>
                      </a:pPr>
                      <a:r>
                        <a:t>PASSED</a:t>
                      </a:r>
                    </a:p>
                  </a:txBody>
                  <a:tcPr marL="146304" marR="109728" marT="73152" marB="73152">
                    <a:solidFill>
                      <a:srgbClr val="F0F7F3"/>
                    </a:solidFill>
                  </a:tcPr>
                </a:tc>
              </a:tr>
              <a:tr h="667512">
                <a:tc>
                  <a:txBody>
                    <a:bodyPr/>
                    <a:lstStyle/>
                    <a:p>
                      <a:pPr algn="l">
                        <a:spcAft>
                          <a:spcPts val="0"/>
                        </a:spcAft>
                        <a:defRPr sz="1400" b="0">
                          <a:solidFill>
                            <a:srgbClr val="1C232D"/>
                          </a:solidFill>
                          <a:latin typeface="Aptos"/>
                        </a:defRPr>
                      </a:pPr>
                      <a:r>
                        <a:t>Child before write</a:t>
                      </a:r>
                    </a:p>
                  </a:txBody>
                  <a:tcPr marL="146304" marR="109728" marT="73152" marB="73152">
                    <a:solidFill>
                      <a:srgbClr val="F6F8FB"/>
                    </a:solidFill>
                  </a:tcPr>
                </a:tc>
                <a:tc>
                  <a:txBody>
                    <a:bodyPr/>
                    <a:lstStyle/>
                    <a:p>
                      <a:pPr algn="ctr">
                        <a:spcAft>
                          <a:spcPts val="0"/>
                        </a:spcAft>
                        <a:defRPr sz="1400" b="0">
                          <a:solidFill>
                            <a:srgbClr val="1C232D"/>
                          </a:solidFill>
                          <a:latin typeface="Aptos"/>
                        </a:defRPr>
                      </a:pPr>
                      <a:r>
                        <a:t>100</a:t>
                      </a:r>
                    </a:p>
                  </a:txBody>
                  <a:tcPr marL="146304" marR="109728" marT="73152" marB="73152">
                    <a:solidFill>
                      <a:srgbClr val="F6F8FB"/>
                    </a:solidFill>
                  </a:tcPr>
                </a:tc>
                <a:tc>
                  <a:txBody>
                    <a:bodyPr/>
                    <a:lstStyle/>
                    <a:p>
                      <a:pPr algn="ctr">
                        <a:spcAft>
                          <a:spcPts val="0"/>
                        </a:spcAft>
                        <a:defRPr sz="1400" b="1">
                          <a:solidFill>
                            <a:srgbClr val="277D57"/>
                          </a:solidFill>
                          <a:latin typeface="Aptos"/>
                        </a:defRPr>
                      </a:pPr>
                      <a:r>
                        <a:t>PASSED</a:t>
                      </a:r>
                    </a:p>
                  </a:txBody>
                  <a:tcPr marL="146304" marR="109728" marT="73152" marB="73152">
                    <a:solidFill>
                      <a:srgbClr val="F0F7F3"/>
                    </a:solidFill>
                  </a:tcPr>
                </a:tc>
              </a:tr>
              <a:tr h="667512">
                <a:tc>
                  <a:txBody>
                    <a:bodyPr/>
                    <a:lstStyle/>
                    <a:p>
                      <a:pPr algn="l">
                        <a:spcAft>
                          <a:spcPts val="0"/>
                        </a:spcAft>
                        <a:defRPr sz="1400" b="0">
                          <a:solidFill>
                            <a:srgbClr val="1C232D"/>
                          </a:solidFill>
                          <a:latin typeface="Aptos"/>
                        </a:defRPr>
                      </a:pPr>
                      <a:r>
                        <a:t>Child after write</a:t>
                      </a:r>
                    </a:p>
                  </a:txBody>
                  <a:tcPr marL="146304" marR="109728" marT="73152" marB="73152">
                    <a:solidFill>
                      <a:srgbClr val="FFFFFF"/>
                    </a:solidFill>
                  </a:tcPr>
                </a:tc>
                <a:tc>
                  <a:txBody>
                    <a:bodyPr/>
                    <a:lstStyle/>
                    <a:p>
                      <a:pPr algn="ctr">
                        <a:spcAft>
                          <a:spcPts val="0"/>
                        </a:spcAft>
                        <a:defRPr sz="1400" b="0">
                          <a:solidFill>
                            <a:srgbClr val="1C232D"/>
                          </a:solidFill>
                          <a:latin typeface="Aptos"/>
                        </a:defRPr>
                      </a:pPr>
                      <a:r>
                        <a:t>200</a:t>
                      </a:r>
                    </a:p>
                  </a:txBody>
                  <a:tcPr marL="146304" marR="109728" marT="73152" marB="73152">
                    <a:solidFill>
                      <a:srgbClr val="FFFFFF"/>
                    </a:solidFill>
                  </a:tcPr>
                </a:tc>
                <a:tc>
                  <a:txBody>
                    <a:bodyPr/>
                    <a:lstStyle/>
                    <a:p>
                      <a:pPr algn="ctr">
                        <a:spcAft>
                          <a:spcPts val="0"/>
                        </a:spcAft>
                        <a:defRPr sz="1400" b="1">
                          <a:solidFill>
                            <a:srgbClr val="277D57"/>
                          </a:solidFill>
                          <a:latin typeface="Aptos"/>
                        </a:defRPr>
                      </a:pPr>
                      <a:r>
                        <a:t>PASSED</a:t>
                      </a:r>
                    </a:p>
                  </a:txBody>
                  <a:tcPr marL="146304" marR="109728" marT="73152" marB="73152">
                    <a:solidFill>
                      <a:srgbClr val="F0F7F3"/>
                    </a:solidFill>
                  </a:tcPr>
                </a:tc>
              </a:tr>
              <a:tr h="667512">
                <a:tc>
                  <a:txBody>
                    <a:bodyPr/>
                    <a:lstStyle/>
                    <a:p>
                      <a:pPr algn="l">
                        <a:spcAft>
                          <a:spcPts val="0"/>
                        </a:spcAft>
                        <a:defRPr sz="1400" b="0">
                          <a:solidFill>
                            <a:srgbClr val="1C232D"/>
                          </a:solidFill>
                          <a:latin typeface="Aptos"/>
                        </a:defRPr>
                      </a:pPr>
                      <a:r>
                        <a:t>Parent after child write</a:t>
                      </a:r>
                    </a:p>
                  </a:txBody>
                  <a:tcPr marL="146304" marR="109728" marT="73152" marB="73152">
                    <a:solidFill>
                      <a:srgbClr val="F6F8FB"/>
                    </a:solidFill>
                  </a:tcPr>
                </a:tc>
                <a:tc>
                  <a:txBody>
                    <a:bodyPr/>
                    <a:lstStyle/>
                    <a:p>
                      <a:pPr algn="ctr">
                        <a:spcAft>
                          <a:spcPts val="0"/>
                        </a:spcAft>
                        <a:defRPr sz="1400" b="0">
                          <a:solidFill>
                            <a:srgbClr val="1C232D"/>
                          </a:solidFill>
                          <a:latin typeface="Aptos"/>
                        </a:defRPr>
                      </a:pPr>
                      <a:r>
                        <a:t>100</a:t>
                      </a:r>
                    </a:p>
                  </a:txBody>
                  <a:tcPr marL="146304" marR="109728" marT="73152" marB="73152">
                    <a:solidFill>
                      <a:srgbClr val="F6F8FB"/>
                    </a:solidFill>
                  </a:tcPr>
                </a:tc>
                <a:tc>
                  <a:txBody>
                    <a:bodyPr/>
                    <a:lstStyle/>
                    <a:p>
                      <a:pPr algn="ctr">
                        <a:spcAft>
                          <a:spcPts val="0"/>
                        </a:spcAft>
                        <a:defRPr sz="1400" b="1">
                          <a:solidFill>
                            <a:srgbClr val="277D57"/>
                          </a:solidFill>
                          <a:latin typeface="Aptos"/>
                        </a:defRPr>
                      </a:pPr>
                      <a:r>
                        <a:t>PASSED</a:t>
                      </a:r>
                    </a:p>
                  </a:txBody>
                  <a:tcPr marL="146304" marR="109728" marT="73152" marB="73152">
                    <a:solidFill>
                      <a:srgbClr val="F0F7F3"/>
                    </a:solidFill>
                  </a:tcPr>
                </a:tc>
              </a:tr>
            </a:tbl>
          </a:graphicData>
        </a:graphic>
      </p:graphicFrame>
      <p:sp>
        <p:nvSpPr>
          <p:cNvPr id="8" name="Rounded Rectangle 7"/>
          <p:cNvSpPr/>
          <p:nvPr/>
        </p:nvSpPr>
        <p:spPr>
          <a:xfrm>
            <a:off x="822960" y="5138928"/>
            <a:ext cx="10561320" cy="777240"/>
          </a:xfrm>
          <a:prstGeom prst="roundRect">
            <a:avLst/>
          </a:prstGeom>
          <a:solidFill>
            <a:srgbClr val="EBF2FA"/>
          </a:solidFill>
          <a:ln w="12700">
            <a:solidFill>
              <a:srgbClr val="EBF2FA"/>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lstStyle/>
          <a:p>
            <a:pPr algn="ctr">
              <a:spcAft>
                <a:spcPts val="500"/>
              </a:spcAft>
              <a:defRPr sz="1500" b="1">
                <a:solidFill>
                  <a:srgbClr val="142A4F"/>
                </a:solidFill>
                <a:latin typeface="Aptos"/>
              </a:defRPr>
            </a:pPr>
            <a:r>
              <a:t>Validation summary</a:t>
            </a:r>
          </a:p>
          <a:p>
            <a:pPr>
              <a:spcAft>
                <a:spcPts val="500"/>
              </a:spcAft>
              <a:defRPr sz="1200" b="0">
                <a:solidFill>
                  <a:srgbClr val="1C232D"/>
                </a:solidFill>
                <a:latin typeface="Aptos"/>
              </a:defRPr>
            </a:pPr>
            <a:r>
              <a:t>All four checks passed in the observed run. The output supports process-level isolation; it does not directly measure physical page copying or performance.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56032"/>
            <a:ext cx="10972800" cy="475488"/>
          </a:xfrm>
          <a:prstGeom prst="rect">
            <a:avLst/>
          </a:prstGeom>
          <a:noFill/>
        </p:spPr>
        <p:txBody>
          <a:bodyPr wrap="square" lIns="54864" rIns="54864" tIns="54864" bIns="54864" anchor="t">
            <a:spAutoFit/>
          </a:bodyPr>
          <a:lstStyle/>
          <a:p>
            <a:pPr algn="l">
              <a:spcAft>
                <a:spcPts val="0"/>
              </a:spcAft>
            </a:pPr>
            <a:r>
              <a:rPr sz="2800" b="1" i="0">
                <a:solidFill>
                  <a:srgbClr val="142A4F"/>
                </a:solidFill>
                <a:latin typeface="Aptos"/>
              </a:rPr>
              <a:t>Advantages, Limitations, and Applications</a:t>
            </a:r>
          </a:p>
        </p:txBody>
      </p:sp>
      <p:sp>
        <p:nvSpPr>
          <p:cNvPr id="3" name="Rectangle 2"/>
          <p:cNvSpPr/>
          <p:nvPr/>
        </p:nvSpPr>
        <p:spPr>
          <a:xfrm>
            <a:off x="594360" y="832104"/>
            <a:ext cx="914400" cy="50292"/>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27632" y="731520"/>
            <a:ext cx="9966960" cy="274320"/>
          </a:xfrm>
          <a:prstGeom prst="rect">
            <a:avLst/>
          </a:prstGeom>
          <a:noFill/>
        </p:spPr>
        <p:txBody>
          <a:bodyPr wrap="square" lIns="54864" rIns="54864" tIns="54864" bIns="54864" anchor="t">
            <a:spAutoFit/>
          </a:bodyPr>
          <a:lstStyle/>
          <a:p>
            <a:pPr algn="l">
              <a:spcAft>
                <a:spcPts val="0"/>
              </a:spcAft>
            </a:pPr>
            <a:r>
              <a:rPr sz="1100" b="0" i="0">
                <a:solidFill>
                  <a:srgbClr val="556273"/>
                </a:solidFill>
                <a:latin typeface="Aptos"/>
              </a:rPr>
              <a:t>What the prototype demonstrates—and what it does not</a:t>
            </a:r>
          </a:p>
        </p:txBody>
      </p:sp>
      <p:sp>
        <p:nvSpPr>
          <p:cNvPr id="5" name="TextBox 4"/>
          <p:cNvSpPr txBox="1"/>
          <p:nvPr/>
        </p:nvSpPr>
        <p:spPr>
          <a:xfrm>
            <a:off x="594360" y="6510528"/>
            <a:ext cx="9875520" cy="164592"/>
          </a:xfrm>
          <a:prstGeom prst="rect">
            <a:avLst/>
          </a:prstGeom>
          <a:noFill/>
        </p:spPr>
        <p:txBody>
          <a:bodyPr wrap="square" lIns="54864" rIns="54864" tIns="54864" bIns="54864" anchor="t">
            <a:spAutoFit/>
          </a:bodyPr>
          <a:lstStyle/>
          <a:p>
            <a:pPr algn="l">
              <a:spcAft>
                <a:spcPts val="0"/>
              </a:spcAft>
            </a:pPr>
            <a:r>
              <a:rPr sz="800" b="1" i="0">
                <a:solidFill>
                  <a:srgbClr val="556273"/>
                </a:solidFill>
                <a:latin typeface="Aptos"/>
              </a:rPr>
              <a:t>COPY-ON-WRITE MEMORY DEMONSTRATOR  •  OPERATING SYSTEMS</a:t>
            </a:r>
          </a:p>
        </p:txBody>
      </p:sp>
      <p:sp>
        <p:nvSpPr>
          <p:cNvPr id="6" name="TextBox 5"/>
          <p:cNvSpPr txBox="1"/>
          <p:nvPr/>
        </p:nvSpPr>
        <p:spPr>
          <a:xfrm>
            <a:off x="11064240" y="6473952"/>
            <a:ext cx="502920" cy="201168"/>
          </a:xfrm>
          <a:prstGeom prst="rect">
            <a:avLst/>
          </a:prstGeom>
          <a:noFill/>
        </p:spPr>
        <p:txBody>
          <a:bodyPr wrap="square" lIns="54864" rIns="54864" tIns="54864" bIns="54864" anchor="t">
            <a:spAutoFit/>
          </a:bodyPr>
          <a:lstStyle/>
          <a:p>
            <a:pPr algn="r">
              <a:spcAft>
                <a:spcPts val="0"/>
              </a:spcAft>
            </a:pPr>
            <a:r>
              <a:rPr sz="900" b="1" i="0">
                <a:solidFill>
                  <a:srgbClr val="556273"/>
                </a:solidFill>
                <a:latin typeface="Aptos"/>
              </a:rPr>
              <a:t>09 / 10</a:t>
            </a:r>
          </a:p>
        </p:txBody>
      </p:sp>
      <p:sp>
        <p:nvSpPr>
          <p:cNvPr id="7" name="Rounded Rectangle 6"/>
          <p:cNvSpPr/>
          <p:nvPr/>
        </p:nvSpPr>
        <p:spPr>
          <a:xfrm>
            <a:off x="658368" y="1234440"/>
            <a:ext cx="3566160" cy="2011680"/>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280160"/>
            <a:ext cx="64008" cy="1920240"/>
          </a:xfrm>
          <a:prstGeom prst="rect">
            <a:avLst/>
          </a:prstGeom>
          <a:solidFill>
            <a:srgbClr val="277D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371600"/>
            <a:ext cx="321868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Advantages</a:t>
            </a:r>
          </a:p>
        </p:txBody>
      </p:sp>
      <p:sp>
        <p:nvSpPr>
          <p:cNvPr id="10" name="TextBox 9"/>
          <p:cNvSpPr txBox="1"/>
          <p:nvPr/>
        </p:nvSpPr>
        <p:spPr>
          <a:xfrm>
            <a:off x="859536" y="1764792"/>
            <a:ext cx="3218688" cy="1371600"/>
          </a:xfrm>
          <a:prstGeom prst="rect">
            <a:avLst/>
          </a:prstGeom>
          <a:noFill/>
        </p:spPr>
        <p:txBody>
          <a:bodyPr wrap="square" lIns="54864" rIns="54864" tIns="54864" bIns="54864" anchor="t">
            <a:spAutoFit/>
          </a:bodyPr>
          <a:lstStyle/>
          <a:p>
            <a:pPr algn="l">
              <a:spcAft>
                <a:spcPts val="0"/>
              </a:spcAft>
            </a:pPr>
            <a:r>
              <a:rPr sz="1400" b="0" i="0">
                <a:solidFill>
                  <a:srgbClr val="1C232D"/>
                </a:solidFill>
                <a:latin typeface="Aptos"/>
              </a:rPr>
              <a:t>• Real Linux process behavior
• Small and reproducible C program
• Helps explain virtual memory and isolation</a:t>
            </a:r>
          </a:p>
        </p:txBody>
      </p:sp>
      <p:sp>
        <p:nvSpPr>
          <p:cNvPr id="11" name="Rounded Rectangle 10"/>
          <p:cNvSpPr/>
          <p:nvPr/>
        </p:nvSpPr>
        <p:spPr>
          <a:xfrm>
            <a:off x="4315968" y="1234440"/>
            <a:ext cx="3566160" cy="2011680"/>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1280160"/>
            <a:ext cx="64008" cy="1920240"/>
          </a:xfrm>
          <a:prstGeom prst="rect">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7136" y="1371600"/>
            <a:ext cx="321868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Applications</a:t>
            </a:r>
          </a:p>
        </p:txBody>
      </p:sp>
      <p:sp>
        <p:nvSpPr>
          <p:cNvPr id="14" name="TextBox 13"/>
          <p:cNvSpPr txBox="1"/>
          <p:nvPr/>
        </p:nvSpPr>
        <p:spPr>
          <a:xfrm>
            <a:off x="4517136" y="1764792"/>
            <a:ext cx="3218688" cy="1371600"/>
          </a:xfrm>
          <a:prstGeom prst="rect">
            <a:avLst/>
          </a:prstGeom>
          <a:noFill/>
        </p:spPr>
        <p:txBody>
          <a:bodyPr wrap="square" lIns="54864" rIns="54864" tIns="54864" bIns="54864" anchor="t">
            <a:spAutoFit/>
          </a:bodyPr>
          <a:lstStyle/>
          <a:p>
            <a:pPr algn="l">
              <a:spcAft>
                <a:spcPts val="0"/>
              </a:spcAft>
            </a:pPr>
            <a:r>
              <a:rPr sz="1400" b="0" i="0">
                <a:solidFill>
                  <a:srgbClr val="1C232D"/>
                </a:solidFill>
                <a:latin typeface="Aptos"/>
              </a:rPr>
              <a:t>• Learning process creation
• Understanding memory management
• Studying virtual-memory concepts</a:t>
            </a:r>
          </a:p>
        </p:txBody>
      </p:sp>
      <p:sp>
        <p:nvSpPr>
          <p:cNvPr id="15" name="Rounded Rectangle 14"/>
          <p:cNvSpPr/>
          <p:nvPr/>
        </p:nvSpPr>
        <p:spPr>
          <a:xfrm>
            <a:off x="7973568" y="1234440"/>
            <a:ext cx="3566160" cy="2011680"/>
          </a:xfrm>
          <a:prstGeom prst="roundRect">
            <a:avLst/>
          </a:prstGeom>
          <a:solidFill>
            <a:srgbClr val="F6F8FB"/>
          </a:solidFill>
          <a:ln>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73568" y="1280160"/>
            <a:ext cx="64008" cy="1920240"/>
          </a:xfrm>
          <a:prstGeom prst="rect">
            <a:avLst/>
          </a:prstGeom>
          <a:solidFill>
            <a:srgbClr val="C27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74736" y="1371600"/>
            <a:ext cx="3218688" cy="32004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Limitations</a:t>
            </a:r>
          </a:p>
        </p:txBody>
      </p:sp>
      <p:sp>
        <p:nvSpPr>
          <p:cNvPr id="18" name="TextBox 17"/>
          <p:cNvSpPr txBox="1"/>
          <p:nvPr/>
        </p:nvSpPr>
        <p:spPr>
          <a:xfrm>
            <a:off x="8174736" y="1764792"/>
            <a:ext cx="3218688" cy="1371600"/>
          </a:xfrm>
          <a:prstGeom prst="rect">
            <a:avLst/>
          </a:prstGeom>
          <a:noFill/>
        </p:spPr>
        <p:txBody>
          <a:bodyPr wrap="square" lIns="54864" rIns="54864" tIns="54864" bIns="54864" anchor="t">
            <a:spAutoFit/>
          </a:bodyPr>
          <a:lstStyle/>
          <a:p>
            <a:pPr algn="l">
              <a:spcAft>
                <a:spcPts val="0"/>
              </a:spcAft>
            </a:pPr>
            <a:r>
              <a:rPr sz="1400" b="0" i="0">
                <a:solidFill>
                  <a:srgbClr val="1C232D"/>
                </a:solidFill>
                <a:latin typeface="Aptos"/>
              </a:rPr>
              <a:t>• Does not inspect physical page frames
• Does not measure memory savings or speed
• Kernel handles page-copy behavior</a:t>
            </a:r>
          </a:p>
        </p:txBody>
      </p:sp>
      <p:sp>
        <p:nvSpPr>
          <p:cNvPr id="19" name="TextBox 18"/>
          <p:cNvSpPr txBox="1"/>
          <p:nvPr/>
        </p:nvSpPr>
        <p:spPr>
          <a:xfrm>
            <a:off x="822960" y="3840480"/>
            <a:ext cx="10424160" cy="365760"/>
          </a:xfrm>
          <a:prstGeom prst="rect">
            <a:avLst/>
          </a:prstGeom>
          <a:noFill/>
        </p:spPr>
        <p:txBody>
          <a:bodyPr wrap="square" lIns="54864" rIns="54864" tIns="54864" bIns="54864" anchor="t">
            <a:spAutoFit/>
          </a:bodyPr>
          <a:lstStyle/>
          <a:p>
            <a:pPr algn="l">
              <a:spcAft>
                <a:spcPts val="0"/>
              </a:spcAft>
            </a:pPr>
            <a:r>
              <a:rPr sz="1700" b="1" i="0">
                <a:solidFill>
                  <a:srgbClr val="142A4F"/>
                </a:solidFill>
                <a:latin typeface="Aptos"/>
              </a:rPr>
              <a:t>Technical accuracy note</a:t>
            </a:r>
          </a:p>
        </p:txBody>
      </p:sp>
      <p:sp>
        <p:nvSpPr>
          <p:cNvPr id="20" name="Rounded Rectangle 19"/>
          <p:cNvSpPr/>
          <p:nvPr/>
        </p:nvSpPr>
        <p:spPr>
          <a:xfrm>
            <a:off x="777240" y="4279392"/>
            <a:ext cx="10652760" cy="1097280"/>
          </a:xfrm>
          <a:prstGeom prst="roundRect">
            <a:avLst/>
          </a:prstGeom>
          <a:solidFill>
            <a:srgbClr val="F6F8FB"/>
          </a:solidFill>
          <a:ln w="12700">
            <a:solidFill>
              <a:srgbClr val="CCD6E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lstStyle/>
          <a:p>
            <a:pPr algn="ctr">
              <a:spcAft>
                <a:spcPts val="500"/>
              </a:spcAft>
              <a:defRPr sz="1500" b="1">
                <a:solidFill>
                  <a:srgbClr val="1C232D"/>
                </a:solidFill>
                <a:latin typeface="Aptos"/>
              </a:defRPr>
            </a:pPr>
            <a:r>
              <a:t>The program uses a private anonymous mapping and relies on Linux behavior after fork().</a:t>
            </a:r>
          </a:p>
          <a:p>
            <a:pPr>
              <a:spcAft>
                <a:spcPts val="500"/>
              </a:spcAft>
              <a:defRPr sz="1300" b="0">
                <a:solidFill>
                  <a:srgbClr val="556273"/>
                </a:solidFill>
                <a:latin typeface="Aptos"/>
              </a:defRPr>
            </a:pPr>
            <a:r>
              <a:t>The result is consistent with Copy-on-Write, but the demonstration does not instrument the kernel to prove when or how a physical page is copied.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4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
            <a:ext cx="10789920" cy="384048"/>
          </a:xfrm>
          <a:prstGeom prst="rect">
            <a:avLst/>
          </a:prstGeom>
          <a:noFill/>
        </p:spPr>
        <p:txBody>
          <a:bodyPr wrap="square" lIns="54864" rIns="54864" tIns="54864" bIns="54864" anchor="t">
            <a:spAutoFit/>
          </a:bodyPr>
          <a:lstStyle/>
          <a:p>
            <a:pPr algn="l">
              <a:spcAft>
                <a:spcPts val="0"/>
              </a:spcAft>
            </a:pPr>
            <a:r>
              <a:rPr sz="2500" b="1" i="0">
                <a:solidFill>
                  <a:srgbClr val="FFFFFF"/>
                </a:solidFill>
                <a:latin typeface="Aptos"/>
              </a:rPr>
              <a:t>Conclusion and Future Scope</a:t>
            </a:r>
          </a:p>
        </p:txBody>
      </p:sp>
      <p:sp>
        <p:nvSpPr>
          <p:cNvPr id="4" name="TextBox 3"/>
          <p:cNvSpPr txBox="1"/>
          <p:nvPr/>
        </p:nvSpPr>
        <p:spPr>
          <a:xfrm>
            <a:off x="777240" y="1325880"/>
            <a:ext cx="5212080" cy="320040"/>
          </a:xfrm>
          <a:prstGeom prst="rect">
            <a:avLst/>
          </a:prstGeom>
          <a:noFill/>
        </p:spPr>
        <p:txBody>
          <a:bodyPr wrap="square" lIns="54864" rIns="54864" tIns="54864" bIns="54864" anchor="t">
            <a:spAutoFit/>
          </a:bodyPr>
          <a:lstStyle/>
          <a:p>
            <a:pPr algn="l">
              <a:spcAft>
                <a:spcPts val="0"/>
              </a:spcAft>
            </a:pPr>
            <a:r>
              <a:rPr sz="1200" b="1" i="0">
                <a:solidFill>
                  <a:srgbClr val="275DA6"/>
                </a:solidFill>
                <a:latin typeface="Aptos"/>
              </a:rPr>
              <a:t>CONCLUSION</a:t>
            </a:r>
          </a:p>
        </p:txBody>
      </p:sp>
      <p:sp>
        <p:nvSpPr>
          <p:cNvPr id="5" name="TextBox 4"/>
          <p:cNvSpPr txBox="1"/>
          <p:nvPr/>
        </p:nvSpPr>
        <p:spPr>
          <a:xfrm>
            <a:off x="777240" y="1755648"/>
            <a:ext cx="5212080" cy="868680"/>
          </a:xfrm>
          <a:prstGeom prst="rect">
            <a:avLst/>
          </a:prstGeom>
          <a:noFill/>
        </p:spPr>
        <p:txBody>
          <a:bodyPr wrap="square" lIns="54864" rIns="54864" tIns="54864" bIns="54864" anchor="t">
            <a:spAutoFit/>
          </a:bodyPr>
          <a:lstStyle/>
          <a:p>
            <a:pPr algn="l">
              <a:spcAft>
                <a:spcPts val="0"/>
              </a:spcAft>
            </a:pPr>
            <a:r>
              <a:rPr sz="1900" b="1" i="0">
                <a:solidFill>
                  <a:srgbClr val="142A4F"/>
                </a:solidFill>
                <a:latin typeface="Aptos"/>
              </a:rPr>
              <a:t>The prototype compiled and ran successfully in WSL. The child displayed 200 while the parent retained 100.</a:t>
            </a:r>
          </a:p>
        </p:txBody>
      </p:sp>
      <p:sp>
        <p:nvSpPr>
          <p:cNvPr id="6" name="TextBox 5"/>
          <p:cNvSpPr txBox="1"/>
          <p:nvPr/>
        </p:nvSpPr>
        <p:spPr>
          <a:xfrm>
            <a:off x="6263640" y="1325880"/>
            <a:ext cx="5212080" cy="320040"/>
          </a:xfrm>
          <a:prstGeom prst="rect">
            <a:avLst/>
          </a:prstGeom>
          <a:noFill/>
        </p:spPr>
        <p:txBody>
          <a:bodyPr wrap="square" lIns="54864" rIns="54864" tIns="54864" bIns="54864" anchor="t">
            <a:spAutoFit/>
          </a:bodyPr>
          <a:lstStyle/>
          <a:p>
            <a:pPr algn="l">
              <a:spcAft>
                <a:spcPts val="0"/>
              </a:spcAft>
            </a:pPr>
            <a:r>
              <a:rPr sz="1200" b="1" i="0">
                <a:solidFill>
                  <a:srgbClr val="275DA6"/>
                </a:solidFill>
                <a:latin typeface="Aptos"/>
              </a:rPr>
              <a:t>FUTURE IMPROVEMENTS</a:t>
            </a:r>
          </a:p>
        </p:txBody>
      </p:sp>
      <p:sp>
        <p:nvSpPr>
          <p:cNvPr id="7" name="Oval 6"/>
          <p:cNvSpPr/>
          <p:nvPr/>
        </p:nvSpPr>
        <p:spPr>
          <a:xfrm>
            <a:off x="6309360" y="1883664"/>
            <a:ext cx="109728" cy="109728"/>
          </a:xfrm>
          <a:prstGeom prst="ellipse">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783080"/>
            <a:ext cx="4800600" cy="502920"/>
          </a:xfrm>
          <a:prstGeom prst="rect">
            <a:avLst/>
          </a:prstGeom>
          <a:noFill/>
        </p:spPr>
        <p:txBody>
          <a:bodyPr wrap="square" lIns="54864" rIns="54864" tIns="54864" bIns="54864" anchor="t">
            <a:spAutoFit/>
          </a:bodyPr>
          <a:lstStyle/>
          <a:p>
            <a:pPr algn="l">
              <a:spcAft>
                <a:spcPts val="0"/>
              </a:spcAft>
            </a:pPr>
            <a:r>
              <a:rPr sz="1400" b="0" i="0">
                <a:solidFill>
                  <a:srgbClr val="1C232D"/>
                </a:solidFill>
                <a:latin typeface="Aptos"/>
              </a:rPr>
              <a:t>Inspect /proc/PID/smaps for memory information</a:t>
            </a:r>
          </a:p>
        </p:txBody>
      </p:sp>
      <p:sp>
        <p:nvSpPr>
          <p:cNvPr id="9" name="Oval 8"/>
          <p:cNvSpPr/>
          <p:nvPr/>
        </p:nvSpPr>
        <p:spPr>
          <a:xfrm>
            <a:off x="6309360" y="2496312"/>
            <a:ext cx="109728" cy="109728"/>
          </a:xfrm>
          <a:prstGeom prst="ellipse">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395728"/>
            <a:ext cx="4800600" cy="502920"/>
          </a:xfrm>
          <a:prstGeom prst="rect">
            <a:avLst/>
          </a:prstGeom>
          <a:noFill/>
        </p:spPr>
        <p:txBody>
          <a:bodyPr wrap="square" lIns="54864" rIns="54864" tIns="54864" bIns="54864" anchor="t">
            <a:spAutoFit/>
          </a:bodyPr>
          <a:lstStyle/>
          <a:p>
            <a:pPr algn="l">
              <a:spcAft>
                <a:spcPts val="0"/>
              </a:spcAft>
            </a:pPr>
            <a:r>
              <a:rPr sz="1400" b="0" i="0">
                <a:solidFill>
                  <a:srgbClr val="1C232D"/>
                </a:solidFill>
                <a:latin typeface="Aptos"/>
              </a:rPr>
              <a:t>Experiment with multiple mapped pages</a:t>
            </a:r>
          </a:p>
        </p:txBody>
      </p:sp>
      <p:sp>
        <p:nvSpPr>
          <p:cNvPr id="11" name="Oval 10"/>
          <p:cNvSpPr/>
          <p:nvPr/>
        </p:nvSpPr>
        <p:spPr>
          <a:xfrm>
            <a:off x="6309360" y="3108960"/>
            <a:ext cx="109728" cy="109728"/>
          </a:xfrm>
          <a:prstGeom prst="ellipse">
            <a:avLst/>
          </a:prstGeom>
          <a:solidFill>
            <a:srgbClr val="275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3008376"/>
            <a:ext cx="4800600" cy="502920"/>
          </a:xfrm>
          <a:prstGeom prst="rect">
            <a:avLst/>
          </a:prstGeom>
          <a:noFill/>
        </p:spPr>
        <p:txBody>
          <a:bodyPr wrap="square" lIns="54864" rIns="54864" tIns="54864" bIns="54864" anchor="t">
            <a:spAutoFit/>
          </a:bodyPr>
          <a:lstStyle/>
          <a:p>
            <a:pPr algn="l">
              <a:spcAft>
                <a:spcPts val="0"/>
              </a:spcAft>
            </a:pPr>
            <a:r>
              <a:rPr sz="1400" b="0" i="0">
                <a:solidFill>
                  <a:srgbClr val="1C232D"/>
                </a:solidFill>
                <a:latin typeface="Aptos"/>
              </a:rPr>
              <a:t>Measure memory usage across controlled runs</a:t>
            </a:r>
          </a:p>
        </p:txBody>
      </p:sp>
      <p:sp>
        <p:nvSpPr>
          <p:cNvPr id="13" name="Rounded Rectangle 12"/>
          <p:cNvSpPr/>
          <p:nvPr/>
        </p:nvSpPr>
        <p:spPr>
          <a:xfrm>
            <a:off x="822960" y="3886200"/>
            <a:ext cx="10561320" cy="868680"/>
          </a:xfrm>
          <a:prstGeom prst="roundRect">
            <a:avLst/>
          </a:prstGeom>
          <a:solidFill>
            <a:srgbClr val="EBF2FA"/>
          </a:solidFill>
          <a:ln w="12700">
            <a:solidFill>
              <a:srgbClr val="EBF2FA"/>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146304" bIns="146304"/>
          <a:lstStyle/>
          <a:p>
            <a:pPr algn="ctr">
              <a:spcAft>
                <a:spcPts val="500"/>
              </a:spcAft>
              <a:defRPr sz="1400" b="1">
                <a:solidFill>
                  <a:srgbClr val="556273"/>
                </a:solidFill>
                <a:latin typeface="Aptos"/>
              </a:defRPr>
            </a:pPr>
            <a:r>
              <a:t>Key result</a:t>
            </a:r>
          </a:p>
          <a:p>
            <a:pPr>
              <a:spcAft>
                <a:spcPts val="500"/>
              </a:spcAft>
              <a:defRPr sz="2200" b="1">
                <a:solidFill>
                  <a:srgbClr val="142A4F"/>
                </a:solidFill>
                <a:latin typeface="Aptos"/>
              </a:defRPr>
            </a:pPr>
            <a:r>
              <a:t>Parent = 100     |     Child = 200</a:t>
            </a:r>
          </a:p>
        </p:txBody>
      </p:sp>
      <p:sp>
        <p:nvSpPr>
          <p:cNvPr id="14" name="TextBox 13"/>
          <p:cNvSpPr txBox="1"/>
          <p:nvPr/>
        </p:nvSpPr>
        <p:spPr>
          <a:xfrm>
            <a:off x="822960" y="5166360"/>
            <a:ext cx="10515600" cy="566928"/>
          </a:xfrm>
          <a:prstGeom prst="rect">
            <a:avLst/>
          </a:prstGeom>
          <a:noFill/>
        </p:spPr>
        <p:txBody>
          <a:bodyPr wrap="square" lIns="54864" rIns="54864" tIns="54864" bIns="54864" anchor="t">
            <a:spAutoFit/>
          </a:bodyPr>
          <a:lstStyle/>
          <a:p>
            <a:pPr algn="ctr">
              <a:spcAft>
                <a:spcPts val="0"/>
              </a:spcAft>
            </a:pPr>
            <a:r>
              <a:rPr sz="2800" b="1" i="0">
                <a:solidFill>
                  <a:srgbClr val="142A4F"/>
                </a:solidFill>
                <a:latin typeface="Aptos"/>
              </a:rPr>
              <a:t>Thank You</a:t>
            </a:r>
          </a:p>
        </p:txBody>
      </p:sp>
      <p:sp>
        <p:nvSpPr>
          <p:cNvPr id="15" name="TextBox 14"/>
          <p:cNvSpPr txBox="1"/>
          <p:nvPr/>
        </p:nvSpPr>
        <p:spPr>
          <a:xfrm>
            <a:off x="822960" y="5715000"/>
            <a:ext cx="10515600" cy="292608"/>
          </a:xfrm>
          <a:prstGeom prst="rect">
            <a:avLst/>
          </a:prstGeom>
          <a:noFill/>
        </p:spPr>
        <p:txBody>
          <a:bodyPr wrap="square" lIns="54864" rIns="54864" tIns="54864" bIns="54864" anchor="t">
            <a:spAutoFit/>
          </a:bodyPr>
          <a:lstStyle/>
          <a:p>
            <a:pPr algn="ctr">
              <a:spcAft>
                <a:spcPts val="0"/>
              </a:spcAft>
            </a:pPr>
            <a:r>
              <a:rPr sz="1700" b="1" i="0">
                <a:solidFill>
                  <a:srgbClr val="275DA6"/>
                </a:solidFill>
                <a:latin typeface="Aptos"/>
              </a:rPr>
              <a:t>Questions?</a:t>
            </a:r>
          </a:p>
        </p:txBody>
      </p:sp>
      <p:sp>
        <p:nvSpPr>
          <p:cNvPr id="16" name="TextBox 15"/>
          <p:cNvSpPr txBox="1"/>
          <p:nvPr/>
        </p:nvSpPr>
        <p:spPr>
          <a:xfrm>
            <a:off x="594360" y="6510528"/>
            <a:ext cx="9875520" cy="164592"/>
          </a:xfrm>
          <a:prstGeom prst="rect">
            <a:avLst/>
          </a:prstGeom>
          <a:noFill/>
        </p:spPr>
        <p:txBody>
          <a:bodyPr wrap="square" lIns="54864" rIns="54864" tIns="54864" bIns="54864" anchor="t">
            <a:spAutoFit/>
          </a:bodyPr>
          <a:lstStyle/>
          <a:p>
            <a:pPr algn="l">
              <a:spcAft>
                <a:spcPts val="0"/>
              </a:spcAft>
            </a:pPr>
            <a:r>
              <a:rPr sz="800" b="1" i="0">
                <a:solidFill>
                  <a:srgbClr val="556273"/>
                </a:solidFill>
                <a:latin typeface="Aptos"/>
              </a:rPr>
              <a:t>COPY-ON-WRITE MEMORY DEMONSTRATOR  •  OPERATING SYSTEMS</a:t>
            </a:r>
          </a:p>
        </p:txBody>
      </p:sp>
      <p:sp>
        <p:nvSpPr>
          <p:cNvPr id="17" name="TextBox 16"/>
          <p:cNvSpPr txBox="1"/>
          <p:nvPr/>
        </p:nvSpPr>
        <p:spPr>
          <a:xfrm>
            <a:off x="11064240" y="6473952"/>
            <a:ext cx="502920" cy="201168"/>
          </a:xfrm>
          <a:prstGeom prst="rect">
            <a:avLst/>
          </a:prstGeom>
          <a:noFill/>
        </p:spPr>
        <p:txBody>
          <a:bodyPr wrap="square" lIns="54864" rIns="54864" tIns="54864" bIns="54864" anchor="t">
            <a:spAutoFit/>
          </a:bodyPr>
          <a:lstStyle/>
          <a:p>
            <a:pPr algn="r">
              <a:spcAft>
                <a:spcPts val="0"/>
              </a:spcAft>
            </a:pPr>
            <a:r>
              <a:rPr sz="900" b="1" i="0">
                <a:solidFill>
                  <a:srgbClr val="556273"/>
                </a:solidFill>
                <a:latin typeface="Aptos"/>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Copy-on-Write Memory Demonstrator</dc:title>
  <dc:subject>B.Tech Operating Systems Hackathon Project</dc:subject>
  <dc:creator>Operating Systems Project Team</dc:creator>
  <cp:keywords>Copy-on-Write, C, Linux, fork, mmap, WSL2</cp:keywords>
  <dc:description>Editable 10-slide presentation. Includes speaker notes and an actual-terminal-screenshot placeholder.</dc:description>
  <cp:lastModifiedBy>Steve Canny</cp:lastModifiedBy>
  <cp:revision>1</cp:revision>
  <dcterms:created xsi:type="dcterms:W3CDTF">2013-01-27T09:14:16Z</dcterms:created>
  <dcterms:modified xsi:type="dcterms:W3CDTF">2013-01-27T09:15:58Z</dcterms:modified>
  <cp:category/>
</cp:coreProperties>
</file>